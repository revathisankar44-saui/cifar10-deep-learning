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87" r:id="rId8"/>
    <p:sldId id="288" r:id="rId9"/>
    <p:sldId id="289" r:id="rId10"/>
    <p:sldId id="290" r:id="rId11"/>
    <p:sldId id="291" r:id="rId12"/>
    <p:sldId id="286" r:id="rId13"/>
    <p:sldId id="292"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lrMapOvr bg1="lt1" tx1="dk1" bg2="lt2" tx2="dk2" accent1="accent1" accent2="accent2" accent3="accent3" accent4="accent4" accent5="accent5" accent6="accent6" hlink="hlink" folHlink="folHlink"/>
  <c:chart>
    <c:title>
      <c:tx>
        <c:rich>
          <a:bodyPr/>
          <a:lstStyle/>
          <a:p>
            <a:pPr>
              <a:defRPr sz="1100" b="0" i="0" u="none" strike="noStrike">
                <a:solidFill>
                  <a:srgbClr val="64748B"/>
                </a:solidFill>
                <a:latin typeface="Arial"/>
              </a:defRPr>
            </a:pPr>
            <a:r>
              <a:rPr lang="en-US" sz="1100" b="0" i="0" u="none" strike="noStrike">
                <a:solidFill>
                  <a:srgbClr val="64748B"/>
                </a:solidFill>
                <a:latin typeface="Arial"/>
              </a:rPr>
              <a:t>Samples per class · floor = 2,000  ·  ceiling = 5,000  ·  ratio = 2.5×</a:t>
            </a:r>
          </a:p>
        </c:rich>
      </c:tx>
      <c:overlay val="0"/>
    </c:title>
    <c:autoTitleDeleted val="0"/>
    <c:plotArea>
      <c:layout/>
      <c:barChart>
        <c:barDir val="col"/>
        <c:grouping val="clustered"/>
        <c:varyColors val="0"/>
        <c:ser>
          <c:idx val="0"/>
          <c:order val="0"/>
          <c:tx>
            <c:strRef>
              <c:f>Sheet1!$B$1</c:f>
              <c:strCache>
                <c:ptCount val="1"/>
                <c:pt idx="0">
                  <c:v>Training samples per class</c:v>
                </c:pt>
              </c:strCache>
            </c:strRef>
          </c:tx>
          <c:spPr>
            <a:solidFill>
              <a:srgbClr val="1D4ED8"/>
            </a:solidFill>
            <a:effectLst/>
          </c:spPr>
          <c:invertIfNegative val="0"/>
          <c:dPt>
            <c:idx val="0"/>
            <c:invertIfNegative val="0"/>
            <c:bubble3D val="0"/>
            <c:spPr>
              <a:solidFill>
                <a:srgbClr val="1D4ED8"/>
              </a:solidFill>
              <a:effectLst/>
            </c:spPr>
            <c:extLst>
              <c:ext xmlns:c16="http://schemas.microsoft.com/office/drawing/2014/chart" uri="{C3380CC4-5D6E-409C-BE32-E72D297353CC}">
                <c16:uniqueId val="{00000001-2DC2-4CFD-B9D5-5CEBF5B988C5}"/>
              </c:ext>
            </c:extLst>
          </c:dPt>
          <c:dPt>
            <c:idx val="1"/>
            <c:invertIfNegative val="0"/>
            <c:bubble3D val="0"/>
            <c:spPr>
              <a:solidFill>
                <a:srgbClr val="7C3AED"/>
              </a:solidFill>
              <a:effectLst/>
            </c:spPr>
            <c:extLst>
              <c:ext xmlns:c16="http://schemas.microsoft.com/office/drawing/2014/chart" uri="{C3380CC4-5D6E-409C-BE32-E72D297353CC}">
                <c16:uniqueId val="{00000003-2DC2-4CFD-B9D5-5CEBF5B988C5}"/>
              </c:ext>
            </c:extLst>
          </c:dPt>
          <c:dPt>
            <c:idx val="2"/>
            <c:invertIfNegative val="0"/>
            <c:bubble3D val="0"/>
            <c:spPr>
              <a:solidFill>
                <a:srgbClr val="16A34A"/>
              </a:solidFill>
              <a:effectLst/>
            </c:spPr>
            <c:extLst>
              <c:ext xmlns:c16="http://schemas.microsoft.com/office/drawing/2014/chart" uri="{C3380CC4-5D6E-409C-BE32-E72D297353CC}">
                <c16:uniqueId val="{00000005-2DC2-4CFD-B9D5-5CEBF5B988C5}"/>
              </c:ext>
            </c:extLst>
          </c:dPt>
          <c:dPt>
            <c:idx val="3"/>
            <c:invertIfNegative val="0"/>
            <c:bubble3D val="0"/>
            <c:spPr>
              <a:solidFill>
                <a:srgbClr val="16A34A"/>
              </a:solidFill>
              <a:effectLst/>
            </c:spPr>
            <c:extLst>
              <c:ext xmlns:c16="http://schemas.microsoft.com/office/drawing/2014/chart" uri="{C3380CC4-5D6E-409C-BE32-E72D297353CC}">
                <c16:uniqueId val="{00000007-2DC2-4CFD-B9D5-5CEBF5B988C5}"/>
              </c:ext>
            </c:extLst>
          </c:dPt>
          <c:dPt>
            <c:idx val="4"/>
            <c:invertIfNegative val="0"/>
            <c:bubble3D val="0"/>
            <c:spPr>
              <a:solidFill>
                <a:srgbClr val="1D4ED8"/>
              </a:solidFill>
              <a:effectLst/>
            </c:spPr>
            <c:extLst>
              <c:ext xmlns:c16="http://schemas.microsoft.com/office/drawing/2014/chart" uri="{C3380CC4-5D6E-409C-BE32-E72D297353CC}">
                <c16:uniqueId val="{00000009-2DC2-4CFD-B9D5-5CEBF5B988C5}"/>
              </c:ext>
            </c:extLst>
          </c:dPt>
          <c:dPt>
            <c:idx val="5"/>
            <c:invertIfNegative val="0"/>
            <c:bubble3D val="0"/>
            <c:spPr>
              <a:solidFill>
                <a:srgbClr val="16A34A"/>
              </a:solidFill>
              <a:effectLst/>
            </c:spPr>
            <c:extLst>
              <c:ext xmlns:c16="http://schemas.microsoft.com/office/drawing/2014/chart" uri="{C3380CC4-5D6E-409C-BE32-E72D297353CC}">
                <c16:uniqueId val="{0000000B-2DC2-4CFD-B9D5-5CEBF5B988C5}"/>
              </c:ext>
            </c:extLst>
          </c:dPt>
          <c:dPt>
            <c:idx val="6"/>
            <c:invertIfNegative val="0"/>
            <c:bubble3D val="0"/>
            <c:spPr>
              <a:solidFill>
                <a:srgbClr val="7C3AED"/>
              </a:solidFill>
              <a:effectLst/>
            </c:spPr>
            <c:extLst>
              <c:ext xmlns:c16="http://schemas.microsoft.com/office/drawing/2014/chart" uri="{C3380CC4-5D6E-409C-BE32-E72D297353CC}">
                <c16:uniqueId val="{0000000D-2DC2-4CFD-B9D5-5CEBF5B988C5}"/>
              </c:ext>
            </c:extLst>
          </c:dPt>
          <c:dPt>
            <c:idx val="7"/>
            <c:invertIfNegative val="0"/>
            <c:bubble3D val="0"/>
            <c:spPr>
              <a:solidFill>
                <a:srgbClr val="7C3AED"/>
              </a:solidFill>
              <a:effectLst/>
            </c:spPr>
            <c:extLst>
              <c:ext xmlns:c16="http://schemas.microsoft.com/office/drawing/2014/chart" uri="{C3380CC4-5D6E-409C-BE32-E72D297353CC}">
                <c16:uniqueId val="{0000000F-2DC2-4CFD-B9D5-5CEBF5B988C5}"/>
              </c:ext>
            </c:extLst>
          </c:dPt>
          <c:dPt>
            <c:idx val="8"/>
            <c:invertIfNegative val="0"/>
            <c:bubble3D val="0"/>
            <c:spPr>
              <a:solidFill>
                <a:srgbClr val="7C3AED"/>
              </a:solidFill>
              <a:effectLst/>
            </c:spPr>
            <c:extLst>
              <c:ext xmlns:c16="http://schemas.microsoft.com/office/drawing/2014/chart" uri="{C3380CC4-5D6E-409C-BE32-E72D297353CC}">
                <c16:uniqueId val="{00000011-2DC2-4CFD-B9D5-5CEBF5B988C5}"/>
              </c:ext>
            </c:extLst>
          </c:dPt>
          <c:dPt>
            <c:idx val="9"/>
            <c:invertIfNegative val="0"/>
            <c:bubble3D val="0"/>
            <c:spPr>
              <a:solidFill>
                <a:srgbClr val="7C3AED"/>
              </a:solidFill>
              <a:effectLst/>
            </c:spPr>
            <c:extLst>
              <c:ext xmlns:c16="http://schemas.microsoft.com/office/drawing/2014/chart" uri="{C3380CC4-5D6E-409C-BE32-E72D297353CC}">
                <c16:uniqueId val="{00000013-2DC2-4CFD-B9D5-5CEBF5B988C5}"/>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airplane</c:v>
                </c:pt>
                <c:pt idx="1">
                  <c:v>automobile</c:v>
                </c:pt>
                <c:pt idx="2">
                  <c:v>bird</c:v>
                </c:pt>
                <c:pt idx="3">
                  <c:v>cat</c:v>
                </c:pt>
                <c:pt idx="4">
                  <c:v>deer</c:v>
                </c:pt>
                <c:pt idx="5">
                  <c:v>dog</c:v>
                </c:pt>
                <c:pt idx="6">
                  <c:v>frog</c:v>
                </c:pt>
                <c:pt idx="7">
                  <c:v>horse</c:v>
                </c:pt>
                <c:pt idx="8">
                  <c:v>ship</c:v>
                </c:pt>
                <c:pt idx="9">
                  <c:v>truck</c:v>
                </c:pt>
              </c:strCache>
            </c:strRef>
          </c:cat>
          <c:val>
            <c:numRef>
              <c:f>Sheet1!$B$2:$B$11</c:f>
              <c:numCache>
                <c:formatCode>General</c:formatCode>
                <c:ptCount val="10"/>
                <c:pt idx="0">
                  <c:v>2700</c:v>
                </c:pt>
                <c:pt idx="1">
                  <c:v>2200</c:v>
                </c:pt>
                <c:pt idx="2">
                  <c:v>4200</c:v>
                </c:pt>
                <c:pt idx="3">
                  <c:v>5000</c:v>
                </c:pt>
                <c:pt idx="4">
                  <c:v>2900</c:v>
                </c:pt>
                <c:pt idx="5">
                  <c:v>4700</c:v>
                </c:pt>
                <c:pt idx="6">
                  <c:v>2100</c:v>
                </c:pt>
                <c:pt idx="7">
                  <c:v>2300</c:v>
                </c:pt>
                <c:pt idx="8">
                  <c:v>2000</c:v>
                </c:pt>
                <c:pt idx="9">
                  <c:v>2200</c:v>
                </c:pt>
              </c:numCache>
            </c:numRef>
          </c:val>
          <c:extLst>
            <c:ext xmlns:c16="http://schemas.microsoft.com/office/drawing/2014/chart" uri="{C3380CC4-5D6E-409C-BE32-E72D297353CC}">
              <c16:uniqueId val="{00000014-2DC2-4CFD-B9D5-5CEBF5B988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55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10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910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3/23/2026</a:t>
            </a:fld>
            <a:endParaRPr lang="en-US"/>
          </a:p>
        </p:txBody>
      </p:sp>
      <p:sp>
        <p:nvSpPr>
          <p:cNvPr id="104911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91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911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Slide Image Placeholder 1"/>
          <p:cNvSpPr>
            <a:spLocks noGrp="1" noRot="1" noChangeAspect="1"/>
          </p:cNvSpPr>
          <p:nvPr>
            <p:ph type="sldImg"/>
          </p:nvPr>
        </p:nvSpPr>
        <p:spPr/>
      </p:sp>
      <p:sp>
        <p:nvSpPr>
          <p:cNvPr id="1048650" name="Notes Placeholder 2"/>
          <p:cNvSpPr>
            <a:spLocks noGrp="1"/>
          </p:cNvSpPr>
          <p:nvPr>
            <p:ph type="body" idx="1"/>
          </p:nvPr>
        </p:nvSpPr>
        <p:spPr/>
        <p:txBody>
          <a:bodyPr/>
          <a:lstStyle/>
          <a:p>
            <a:endParaRPr lang="en-US" dirty="0"/>
          </a:p>
        </p:txBody>
      </p:sp>
      <p:sp>
        <p:nvSpPr>
          <p:cNvPr id="1048651"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Slide Image Placeholder 1"/>
          <p:cNvSpPr>
            <a:spLocks noGrp="1" noRot="1" noChangeAspect="1"/>
          </p:cNvSpPr>
          <p:nvPr>
            <p:ph type="sldImg"/>
          </p:nvPr>
        </p:nvSpPr>
        <p:spPr/>
      </p:sp>
      <p:sp>
        <p:nvSpPr>
          <p:cNvPr id="1048683" name="Notes Placeholder 2"/>
          <p:cNvSpPr>
            <a:spLocks noGrp="1"/>
          </p:cNvSpPr>
          <p:nvPr>
            <p:ph type="body" idx="1"/>
          </p:nvPr>
        </p:nvSpPr>
        <p:spPr/>
        <p:txBody>
          <a:bodyPr/>
          <a:lstStyle/>
          <a:p>
            <a:endParaRPr lang="en-US" dirty="0"/>
          </a:p>
        </p:txBody>
      </p:sp>
      <p:sp>
        <p:nvSpPr>
          <p:cNvPr id="104868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Slide Image Placeholder 1"/>
          <p:cNvSpPr>
            <a:spLocks noGrp="1" noRot="1" noChangeAspect="1"/>
          </p:cNvSpPr>
          <p:nvPr>
            <p:ph type="sldImg"/>
          </p:nvPr>
        </p:nvSpPr>
        <p:spPr/>
      </p:sp>
      <p:sp>
        <p:nvSpPr>
          <p:cNvPr id="1048703" name="Notes Placeholder 2"/>
          <p:cNvSpPr>
            <a:spLocks noGrp="1"/>
          </p:cNvSpPr>
          <p:nvPr>
            <p:ph type="body" idx="1"/>
          </p:nvPr>
        </p:nvSpPr>
        <p:spPr/>
        <p:txBody>
          <a:bodyPr/>
          <a:lstStyle/>
          <a:p>
            <a:endParaRPr lang="en-US" dirty="0"/>
          </a:p>
        </p:txBody>
      </p:sp>
      <p:sp>
        <p:nvSpPr>
          <p:cNvPr id="104870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6" name="Slide Image Placeholder 1"/>
          <p:cNvSpPr>
            <a:spLocks noGrp="1" noRot="1" noChangeAspect="1"/>
          </p:cNvSpPr>
          <p:nvPr>
            <p:ph type="sldImg"/>
          </p:nvPr>
        </p:nvSpPr>
        <p:spPr/>
      </p:sp>
      <p:sp>
        <p:nvSpPr>
          <p:cNvPr id="1048737" name="Notes Placeholder 2"/>
          <p:cNvSpPr>
            <a:spLocks noGrp="1"/>
          </p:cNvSpPr>
          <p:nvPr>
            <p:ph type="body" idx="1"/>
          </p:nvPr>
        </p:nvSpPr>
        <p:spPr/>
        <p:txBody>
          <a:bodyPr/>
          <a:lstStyle/>
          <a:p>
            <a:endParaRPr lang="en-US" dirty="0"/>
          </a:p>
        </p:txBody>
      </p:sp>
      <p:sp>
        <p:nvSpPr>
          <p:cNvPr id="1048738"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3" name="Slide Image Placeholder 1"/>
          <p:cNvSpPr>
            <a:spLocks noGrp="1" noRot="1" noChangeAspect="1"/>
          </p:cNvSpPr>
          <p:nvPr>
            <p:ph type="sldImg"/>
          </p:nvPr>
        </p:nvSpPr>
        <p:spPr/>
      </p:sp>
      <p:sp>
        <p:nvSpPr>
          <p:cNvPr id="1048814" name="Notes Placeholder 2"/>
          <p:cNvSpPr>
            <a:spLocks noGrp="1"/>
          </p:cNvSpPr>
          <p:nvPr>
            <p:ph type="body" idx="1"/>
          </p:nvPr>
        </p:nvSpPr>
        <p:spPr/>
        <p:txBody>
          <a:bodyPr/>
          <a:lstStyle/>
          <a:p>
            <a:endParaRPr lang="en-US" dirty="0"/>
          </a:p>
        </p:txBody>
      </p:sp>
      <p:sp>
        <p:nvSpPr>
          <p:cNvPr id="1048815"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1048576" name="Shape 0"/>
          <p:cNvSpPr/>
          <p:nvPr/>
        </p:nvSpPr>
        <p:spPr>
          <a:xfrm>
            <a:off x="0" y="0"/>
            <a:ext cx="201168" cy="5143500"/>
          </a:xfrm>
          <a:prstGeom prst="rect">
            <a:avLst/>
          </a:prstGeom>
          <a:solidFill>
            <a:srgbClr val="0D9488"/>
          </a:solidFill>
          <a:ln w="12700">
            <a:solidFill>
              <a:srgbClr val="0D9488"/>
            </a:solidFill>
            <a:prstDash val="solid"/>
          </a:ln>
        </p:spPr>
        <p:txBody>
          <a:bodyPr/>
          <a:lstStyle/>
          <a:p>
            <a:endParaRPr lang="en-IN"/>
          </a:p>
        </p:txBody>
      </p:sp>
      <p:sp>
        <p:nvSpPr>
          <p:cNvPr id="1048577" name="Shape 1"/>
          <p:cNvSpPr/>
          <p:nvPr/>
        </p:nvSpPr>
        <p:spPr>
          <a:xfrm>
            <a:off x="457200" y="822960"/>
            <a:ext cx="64008" cy="3474720"/>
          </a:xfrm>
          <a:prstGeom prst="rect">
            <a:avLst/>
          </a:prstGeom>
          <a:solidFill>
            <a:srgbClr val="F59E0B"/>
          </a:solidFill>
          <a:ln w="12700">
            <a:solidFill>
              <a:srgbClr val="F59E0B"/>
            </a:solidFill>
            <a:prstDash val="solid"/>
          </a:ln>
        </p:spPr>
        <p:txBody>
          <a:bodyPr/>
          <a:lstStyle/>
          <a:p>
            <a:endParaRPr lang="en-IN"/>
          </a:p>
        </p:txBody>
      </p:sp>
      <p:sp>
        <p:nvSpPr>
          <p:cNvPr id="1048578" name="Shape 2"/>
          <p:cNvSpPr/>
          <p:nvPr/>
        </p:nvSpPr>
        <p:spPr>
          <a:xfrm>
            <a:off x="6858000" y="-731520"/>
            <a:ext cx="3657600" cy="3657600"/>
          </a:xfrm>
          <a:prstGeom prst="ellipse">
            <a:avLst/>
          </a:prstGeom>
          <a:solidFill>
            <a:srgbClr val="0D9488">
              <a:alpha val="10000"/>
            </a:srgbClr>
          </a:solidFill>
          <a:ln w="12700">
            <a:solidFill>
              <a:srgbClr val="0D9488">
                <a:alpha val="10000"/>
              </a:srgbClr>
            </a:solidFill>
            <a:prstDash val="solid"/>
          </a:ln>
        </p:spPr>
        <p:txBody>
          <a:bodyPr/>
          <a:lstStyle/>
          <a:p>
            <a:endParaRPr lang="en-IN"/>
          </a:p>
        </p:txBody>
      </p:sp>
      <p:sp>
        <p:nvSpPr>
          <p:cNvPr id="1048579" name="Shape 3"/>
          <p:cNvSpPr/>
          <p:nvPr/>
        </p:nvSpPr>
        <p:spPr>
          <a:xfrm>
            <a:off x="7680960" y="3108960"/>
            <a:ext cx="2011680" cy="2011680"/>
          </a:xfrm>
          <a:prstGeom prst="ellipse">
            <a:avLst/>
          </a:prstGeom>
          <a:solidFill>
            <a:srgbClr val="14B8A6">
              <a:alpha val="8000"/>
            </a:srgbClr>
          </a:solidFill>
          <a:ln w="12700">
            <a:solidFill>
              <a:srgbClr val="14B8A6">
                <a:alpha val="8000"/>
              </a:srgbClr>
            </a:solidFill>
            <a:prstDash val="solid"/>
          </a:ln>
        </p:spPr>
        <p:txBody>
          <a:bodyPr/>
          <a:lstStyle/>
          <a:p>
            <a:endParaRPr lang="en-IN"/>
          </a:p>
        </p:txBody>
      </p:sp>
      <p:sp>
        <p:nvSpPr>
          <p:cNvPr id="1048580" name="Text 4"/>
          <p:cNvSpPr/>
          <p:nvPr/>
        </p:nvSpPr>
        <p:spPr>
          <a:xfrm>
            <a:off x="574589" y="315468"/>
            <a:ext cx="7947619" cy="708660"/>
          </a:xfrm>
          <a:prstGeom prst="rect">
            <a:avLst/>
          </a:prstGeom>
          <a:noFill/>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Robust Image Classification</a:t>
            </a:r>
            <a:endParaRPr lang="en-US" sz="3400" dirty="0"/>
          </a:p>
        </p:txBody>
      </p:sp>
      <p:sp>
        <p:nvSpPr>
          <p:cNvPr id="1048581" name="Text 5"/>
          <p:cNvSpPr/>
          <p:nvPr/>
        </p:nvSpPr>
        <p:spPr>
          <a:xfrm>
            <a:off x="574589" y="1024128"/>
            <a:ext cx="7764739" cy="1078992"/>
          </a:xfrm>
          <a:prstGeom prst="rect">
            <a:avLst/>
          </a:prstGeom>
          <a:noFill/>
        </p:spPr>
        <p:txBody>
          <a:bodyPr wrap="square" rtlCol="0" anchor="ctr"/>
          <a:lstStyle/>
          <a:p>
            <a:pPr marL="0" indent="0">
              <a:buNone/>
            </a:pPr>
            <a:endParaRPr lang="en-US" sz="2400" dirty="0"/>
          </a:p>
        </p:txBody>
      </p:sp>
      <p:sp>
        <p:nvSpPr>
          <p:cNvPr id="1048582" name="Text 6"/>
          <p:cNvSpPr/>
          <p:nvPr/>
        </p:nvSpPr>
        <p:spPr>
          <a:xfrm>
            <a:off x="521208" y="1024128"/>
            <a:ext cx="7635240" cy="493776"/>
          </a:xfrm>
          <a:prstGeom prst="rect">
            <a:avLst/>
          </a:prstGeom>
          <a:noFill/>
        </p:spPr>
        <p:txBody>
          <a:bodyPr wrap="square" rtlCol="0" anchor="ctr"/>
          <a:lstStyle/>
          <a:p>
            <a:pPr marL="0" indent="0">
              <a:buNone/>
            </a:pPr>
            <a:r>
              <a:rPr lang="en-US" sz="1500" i="1" dirty="0">
                <a:solidFill>
                  <a:srgbClr val="6B9BB0"/>
                </a:solidFill>
                <a:latin typeface="Calibri" pitchFamily="34" charset="0"/>
                <a:ea typeface="Calibri" pitchFamily="34" charset="-122"/>
                <a:cs typeface="Calibri" pitchFamily="34" charset="-120"/>
              </a:rPr>
              <a:t>A Deep Learning Approach on the CIFAR-10 Dataset</a:t>
            </a:r>
            <a:endParaRPr lang="en-US" sz="1500" dirty="0"/>
          </a:p>
        </p:txBody>
      </p:sp>
      <p:sp>
        <p:nvSpPr>
          <p:cNvPr id="1048583" name="Text 7"/>
          <p:cNvSpPr/>
          <p:nvPr/>
        </p:nvSpPr>
        <p:spPr>
          <a:xfrm>
            <a:off x="489204" y="1581912"/>
            <a:ext cx="6893958" cy="1325880"/>
          </a:xfrm>
          <a:prstGeom prst="rect">
            <a:avLst/>
          </a:prstGeom>
          <a:noFill/>
        </p:spPr>
        <p:txBody>
          <a:bodyPr wrap="square" rtlCol="0" anchor="ctr"/>
          <a:lstStyle/>
          <a:p>
            <a:pPr marL="0" indent="0">
              <a:buNone/>
            </a:pPr>
            <a:r>
              <a:rPr lang="en-US" sz="1200" dirty="0">
                <a:solidFill>
                  <a:srgbClr val="00B0F0"/>
                </a:solidFill>
                <a:latin typeface="Calibri" pitchFamily="34" charset="0"/>
                <a:ea typeface="Calibri" pitchFamily="34" charset="-122"/>
                <a:cs typeface="Calibri" pitchFamily="34" charset="-120"/>
              </a:rPr>
              <a:t>TensorFlow 2.19  ·  Keras 3.13  ·  Google Colab T4 GPU  ·  Python 3.12</a:t>
            </a:r>
          </a:p>
          <a:p>
            <a:pPr marL="0" indent="0">
              <a:buNone/>
            </a:pPr>
            <a:endParaRPr lang="en-US" sz="1200" dirty="0">
              <a:solidFill>
                <a:srgbClr val="00B0F0"/>
              </a:solidFill>
              <a:latin typeface="Calibri" pitchFamily="34" charset="0"/>
              <a:ea typeface="Calibri" pitchFamily="34" charset="-122"/>
              <a:cs typeface="Calibri" pitchFamily="34" charset="-120"/>
            </a:endParaRPr>
          </a:p>
          <a:p>
            <a:r>
              <a:rPr lang="en-US" sz="1200" dirty="0">
                <a:solidFill>
                  <a:srgbClr val="00B0F0"/>
                </a:solidFill>
                <a:latin typeface="Calibri" pitchFamily="34" charset="0"/>
                <a:ea typeface="Calibri" pitchFamily="34" charset="-122"/>
                <a:cs typeface="Calibri" pitchFamily="34" charset="-120"/>
              </a:rPr>
              <a:t>Module : Applied Data Science 2</a:t>
            </a:r>
          </a:p>
          <a:p>
            <a:r>
              <a:rPr lang="en-US" sz="1200" dirty="0">
                <a:solidFill>
                  <a:srgbClr val="00B0F0"/>
                </a:solidFill>
              </a:rPr>
              <a:t>Student Name: Revathi Sivasankaran</a:t>
            </a:r>
          </a:p>
          <a:p>
            <a:r>
              <a:rPr lang="en-US" sz="1200" dirty="0">
                <a:solidFill>
                  <a:srgbClr val="00B0F0"/>
                </a:solidFill>
              </a:rPr>
              <a:t>Student ID : 4371ORRN</a:t>
            </a:r>
          </a:p>
          <a:p>
            <a:r>
              <a:rPr lang="en-US" sz="1200" dirty="0">
                <a:solidFill>
                  <a:srgbClr val="00B0F0"/>
                </a:solidFill>
              </a:rPr>
              <a:t>Lecturer : </a:t>
            </a:r>
            <a:r>
              <a:rPr lang="en-IN" sz="1200" dirty="0">
                <a:solidFill>
                  <a:srgbClr val="00B0F0"/>
                </a:solidFill>
              </a:rPr>
              <a:t>Kim Siong Wong</a:t>
            </a:r>
            <a:endParaRPr lang="en-US" sz="1200" dirty="0">
              <a:solidFill>
                <a:srgbClr val="00B0F0"/>
              </a:solidFill>
            </a:endParaRPr>
          </a:p>
        </p:txBody>
      </p:sp>
      <p:sp>
        <p:nvSpPr>
          <p:cNvPr id="1048584" name="Shape 8"/>
          <p:cNvSpPr/>
          <p:nvPr/>
        </p:nvSpPr>
        <p:spPr>
          <a:xfrm>
            <a:off x="658368" y="2999232"/>
            <a:ext cx="4754880" cy="36576"/>
          </a:xfrm>
          <a:prstGeom prst="rect">
            <a:avLst/>
          </a:prstGeom>
          <a:solidFill>
            <a:srgbClr val="0D9488"/>
          </a:solidFill>
          <a:ln w="12700">
            <a:solidFill>
              <a:srgbClr val="0D9488"/>
            </a:solidFill>
            <a:prstDash val="solid"/>
          </a:ln>
        </p:spPr>
        <p:txBody>
          <a:bodyPr/>
          <a:lstStyle/>
          <a:p>
            <a:endParaRPr lang="en-IN"/>
          </a:p>
        </p:txBody>
      </p:sp>
      <p:sp>
        <p:nvSpPr>
          <p:cNvPr id="1048585" name="Text 9"/>
          <p:cNvSpPr/>
          <p:nvPr/>
        </p:nvSpPr>
        <p:spPr>
          <a:xfrm>
            <a:off x="621792" y="3182112"/>
            <a:ext cx="7799832" cy="585216"/>
          </a:xfrm>
          <a:prstGeom prst="rect">
            <a:avLst/>
          </a:prstGeom>
          <a:noFill/>
        </p:spPr>
        <p:txBody>
          <a:bodyPr wrap="square" rtlCol="0" anchor="ctr"/>
          <a:lstStyle/>
          <a:p>
            <a:pPr marL="0" indent="0">
              <a:buNone/>
            </a:pPr>
            <a:endParaRPr lang="en-US" sz="1100" dirty="0">
              <a:solidFill>
                <a:srgbClr val="00B0F0"/>
              </a:solidFill>
            </a:endParaRPr>
          </a:p>
          <a:p>
            <a:r>
              <a:rPr lang="en-US" sz="1100" dirty="0" err="1">
                <a:solidFill>
                  <a:srgbClr val="00B0F0"/>
                </a:solidFill>
              </a:rPr>
              <a:t>Github</a:t>
            </a:r>
            <a:r>
              <a:rPr lang="en-US" sz="1100" dirty="0">
                <a:solidFill>
                  <a:srgbClr val="00B0F0"/>
                </a:solidFill>
              </a:rPr>
              <a:t> Link: https://github.com/revathisankar44-SAUI/CIFAR10-Deep-Learning</a:t>
            </a:r>
          </a:p>
          <a:p>
            <a:pPr marL="0" indent="0">
              <a:buNone/>
            </a:pPr>
            <a:endParaRPr lang="en-US" sz="1100" dirty="0">
              <a:solidFill>
                <a:srgbClr val="00B0F0"/>
              </a:solidFill>
            </a:endParaRPr>
          </a:p>
          <a:p>
            <a:pPr marL="0" indent="0">
              <a:buNone/>
            </a:pPr>
            <a:endParaRPr lang="en-US" sz="1100" dirty="0"/>
          </a:p>
        </p:txBody>
      </p:sp>
      <p:sp>
        <p:nvSpPr>
          <p:cNvPr id="1048586" name="Text 10"/>
          <p:cNvSpPr/>
          <p:nvPr/>
        </p:nvSpPr>
        <p:spPr>
          <a:xfrm>
            <a:off x="658368" y="3529584"/>
            <a:ext cx="7863840" cy="164592"/>
          </a:xfrm>
          <a:prstGeom prst="rect">
            <a:avLst/>
          </a:prstGeom>
          <a:noFill/>
        </p:spPr>
        <p:txBody>
          <a:bodyPr wrap="square" rtlCol="0" anchor="ctr"/>
          <a:lstStyle/>
          <a:p>
            <a:pPr marL="0" indent="0">
              <a:buNone/>
            </a:pPr>
            <a:endParaRPr lang="en-US" sz="1100" dirty="0"/>
          </a:p>
        </p:txBody>
      </p:sp>
      <p:sp>
        <p:nvSpPr>
          <p:cNvPr id="1048587" name="Shape 11"/>
          <p:cNvSpPr/>
          <p:nvPr/>
        </p:nvSpPr>
        <p:spPr>
          <a:xfrm>
            <a:off x="621792" y="3995928"/>
            <a:ext cx="2011680" cy="969264"/>
          </a:xfrm>
          <a:prstGeom prst="rect">
            <a:avLst/>
          </a:prstGeom>
          <a:solidFill>
            <a:srgbClr val="0D9488">
              <a:alpha val="20000"/>
            </a:srgbClr>
          </a:solidFill>
          <a:ln w="12700">
            <a:solidFill>
              <a:srgbClr val="0D9488">
                <a:alpha val="40000"/>
              </a:srgbClr>
            </a:solidFill>
            <a:prstDash val="solid"/>
          </a:ln>
        </p:spPr>
        <p:txBody>
          <a:bodyPr/>
          <a:lstStyle/>
          <a:p>
            <a:endParaRPr lang="en-IN"/>
          </a:p>
        </p:txBody>
      </p:sp>
      <p:sp>
        <p:nvSpPr>
          <p:cNvPr id="1048588" name="Text 12"/>
          <p:cNvSpPr/>
          <p:nvPr/>
        </p:nvSpPr>
        <p:spPr>
          <a:xfrm>
            <a:off x="896112" y="4187952"/>
            <a:ext cx="1572768" cy="274320"/>
          </a:xfrm>
          <a:prstGeom prst="rect">
            <a:avLst/>
          </a:prstGeom>
          <a:noFill/>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76.29%</a:t>
            </a:r>
            <a:endParaRPr lang="en-US" sz="2200" dirty="0"/>
          </a:p>
        </p:txBody>
      </p:sp>
      <p:sp>
        <p:nvSpPr>
          <p:cNvPr id="1048589" name="Text 13"/>
          <p:cNvSpPr/>
          <p:nvPr/>
        </p:nvSpPr>
        <p:spPr>
          <a:xfrm>
            <a:off x="1001268" y="4498848"/>
            <a:ext cx="1467612" cy="329184"/>
          </a:xfrm>
          <a:prstGeom prst="rect">
            <a:avLst/>
          </a:prstGeom>
          <a:noFill/>
        </p:spPr>
        <p:txBody>
          <a:bodyPr wrap="square" rtlCol="0" anchor="ctr"/>
          <a:lstStyle/>
          <a:p>
            <a:pPr marL="0" indent="0" algn="ctr">
              <a:buNone/>
            </a:pPr>
            <a:r>
              <a:rPr lang="en-US" sz="900" dirty="0">
                <a:solidFill>
                  <a:srgbClr val="9BBCD0"/>
                </a:solidFill>
                <a:latin typeface="Calibri" pitchFamily="34" charset="0"/>
                <a:ea typeface="Calibri" pitchFamily="34" charset="-122"/>
                <a:cs typeface="Calibri" pitchFamily="34" charset="-120"/>
              </a:rPr>
              <a:t>CNN Test Accuracy</a:t>
            </a:r>
            <a:endParaRPr lang="en-US" sz="900" dirty="0"/>
          </a:p>
        </p:txBody>
      </p:sp>
      <p:sp>
        <p:nvSpPr>
          <p:cNvPr id="1048590" name="Shape 14"/>
          <p:cNvSpPr/>
          <p:nvPr/>
        </p:nvSpPr>
        <p:spPr>
          <a:xfrm>
            <a:off x="2715768" y="3998399"/>
            <a:ext cx="2011680" cy="969264"/>
          </a:xfrm>
          <a:prstGeom prst="rect">
            <a:avLst/>
          </a:prstGeom>
          <a:solidFill>
            <a:srgbClr val="0D9488">
              <a:alpha val="20000"/>
            </a:srgbClr>
          </a:solidFill>
          <a:ln w="12700">
            <a:solidFill>
              <a:srgbClr val="0D9488">
                <a:alpha val="40000"/>
              </a:srgbClr>
            </a:solidFill>
            <a:prstDash val="solid"/>
          </a:ln>
        </p:spPr>
        <p:txBody>
          <a:bodyPr/>
          <a:lstStyle/>
          <a:p>
            <a:endParaRPr lang="en-IN"/>
          </a:p>
        </p:txBody>
      </p:sp>
      <p:sp>
        <p:nvSpPr>
          <p:cNvPr id="1048591" name="Text 15"/>
          <p:cNvSpPr/>
          <p:nvPr/>
        </p:nvSpPr>
        <p:spPr>
          <a:xfrm>
            <a:off x="2633472" y="4187952"/>
            <a:ext cx="2011680" cy="274320"/>
          </a:xfrm>
          <a:prstGeom prst="rect">
            <a:avLst/>
          </a:prstGeom>
          <a:noFill/>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78.38%</a:t>
            </a:r>
            <a:endParaRPr lang="en-US" sz="2200" dirty="0"/>
          </a:p>
        </p:txBody>
      </p:sp>
      <p:sp>
        <p:nvSpPr>
          <p:cNvPr id="1048592" name="Text 16"/>
          <p:cNvSpPr/>
          <p:nvPr/>
        </p:nvSpPr>
        <p:spPr>
          <a:xfrm>
            <a:off x="3012948" y="4572000"/>
            <a:ext cx="1559052" cy="201168"/>
          </a:xfrm>
          <a:prstGeom prst="rect">
            <a:avLst/>
          </a:prstGeom>
          <a:noFill/>
        </p:spPr>
        <p:txBody>
          <a:bodyPr wrap="square" rtlCol="0" anchor="ctr"/>
          <a:lstStyle/>
          <a:p>
            <a:pPr marL="0" indent="0" algn="ctr">
              <a:buNone/>
            </a:pPr>
            <a:r>
              <a:rPr lang="en-US" sz="900" dirty="0">
                <a:solidFill>
                  <a:srgbClr val="9BBCD0"/>
                </a:solidFill>
                <a:latin typeface="Calibri" pitchFamily="34" charset="0"/>
                <a:ea typeface="Calibri" pitchFamily="34" charset="-122"/>
                <a:cs typeface="Calibri" pitchFamily="34" charset="-120"/>
              </a:rPr>
              <a:t>CNN Best Val Accuracy</a:t>
            </a:r>
            <a:endParaRPr lang="en-US" sz="900" dirty="0"/>
          </a:p>
        </p:txBody>
      </p:sp>
      <p:sp>
        <p:nvSpPr>
          <p:cNvPr id="1048593" name="Shape 17"/>
          <p:cNvSpPr/>
          <p:nvPr/>
        </p:nvSpPr>
        <p:spPr>
          <a:xfrm>
            <a:off x="4786884" y="4006307"/>
            <a:ext cx="2011680" cy="969264"/>
          </a:xfrm>
          <a:prstGeom prst="rect">
            <a:avLst/>
          </a:prstGeom>
          <a:solidFill>
            <a:srgbClr val="0D9488">
              <a:alpha val="20000"/>
            </a:srgbClr>
          </a:solidFill>
          <a:ln w="12700">
            <a:solidFill>
              <a:srgbClr val="0D9488">
                <a:alpha val="40000"/>
              </a:srgbClr>
            </a:solidFill>
            <a:prstDash val="solid"/>
          </a:ln>
        </p:spPr>
        <p:txBody>
          <a:bodyPr/>
          <a:lstStyle/>
          <a:p>
            <a:endParaRPr lang="en-IN" dirty="0"/>
          </a:p>
        </p:txBody>
      </p:sp>
      <p:sp>
        <p:nvSpPr>
          <p:cNvPr id="1048594" name="Text 18"/>
          <p:cNvSpPr/>
          <p:nvPr/>
        </p:nvSpPr>
        <p:spPr>
          <a:xfrm>
            <a:off x="4809744" y="4187952"/>
            <a:ext cx="1988820" cy="274320"/>
          </a:xfrm>
          <a:prstGeom prst="rect">
            <a:avLst/>
          </a:prstGeom>
          <a:noFill/>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0.9741</a:t>
            </a:r>
            <a:endParaRPr lang="en-US" sz="2200" dirty="0"/>
          </a:p>
        </p:txBody>
      </p:sp>
      <p:sp>
        <p:nvSpPr>
          <p:cNvPr id="1048595" name="Text 19"/>
          <p:cNvSpPr/>
          <p:nvPr/>
        </p:nvSpPr>
        <p:spPr>
          <a:xfrm>
            <a:off x="5148072" y="4498848"/>
            <a:ext cx="1499863" cy="329184"/>
          </a:xfrm>
          <a:prstGeom prst="rect">
            <a:avLst/>
          </a:prstGeom>
          <a:noFill/>
        </p:spPr>
        <p:txBody>
          <a:bodyPr wrap="square" rtlCol="0" anchor="ctr"/>
          <a:lstStyle/>
          <a:p>
            <a:pPr marL="0" indent="0" algn="ctr">
              <a:buNone/>
            </a:pPr>
            <a:r>
              <a:rPr lang="en-US" sz="900" dirty="0">
                <a:solidFill>
                  <a:srgbClr val="9BBCD0"/>
                </a:solidFill>
                <a:latin typeface="Calibri" pitchFamily="34" charset="0"/>
                <a:ea typeface="Calibri" pitchFamily="34" charset="-122"/>
                <a:cs typeface="Calibri" pitchFamily="34" charset="-120"/>
              </a:rPr>
              <a:t>CNN Macro AUC</a:t>
            </a:r>
            <a:endParaRPr lang="en-US" sz="900" dirty="0"/>
          </a:p>
        </p:txBody>
      </p:sp>
      <p:sp>
        <p:nvSpPr>
          <p:cNvPr id="1048596" name="Shape 20"/>
          <p:cNvSpPr/>
          <p:nvPr/>
        </p:nvSpPr>
        <p:spPr>
          <a:xfrm>
            <a:off x="6880860" y="3995928"/>
            <a:ext cx="2011680" cy="969264"/>
          </a:xfrm>
          <a:prstGeom prst="rect">
            <a:avLst/>
          </a:prstGeom>
          <a:solidFill>
            <a:srgbClr val="0D9488">
              <a:alpha val="20000"/>
            </a:srgbClr>
          </a:solidFill>
          <a:ln w="12700">
            <a:solidFill>
              <a:srgbClr val="0D9488">
                <a:alpha val="40000"/>
              </a:srgbClr>
            </a:solidFill>
            <a:prstDash val="solid"/>
          </a:ln>
        </p:spPr>
        <p:txBody>
          <a:bodyPr/>
          <a:lstStyle/>
          <a:p>
            <a:endParaRPr lang="en-IN"/>
          </a:p>
        </p:txBody>
      </p:sp>
      <p:sp>
        <p:nvSpPr>
          <p:cNvPr id="1048597" name="Text 21"/>
          <p:cNvSpPr/>
          <p:nvPr/>
        </p:nvSpPr>
        <p:spPr>
          <a:xfrm>
            <a:off x="7260336" y="4187952"/>
            <a:ext cx="1346145" cy="320040"/>
          </a:xfrm>
          <a:prstGeom prst="rect">
            <a:avLst/>
          </a:prstGeom>
          <a:noFill/>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2.5×</a:t>
            </a:r>
            <a:endParaRPr lang="en-US" sz="2200" dirty="0"/>
          </a:p>
        </p:txBody>
      </p:sp>
      <p:sp>
        <p:nvSpPr>
          <p:cNvPr id="1048598" name="Text 22"/>
          <p:cNvSpPr/>
          <p:nvPr/>
        </p:nvSpPr>
        <p:spPr>
          <a:xfrm>
            <a:off x="6986016" y="4507992"/>
            <a:ext cx="2011680" cy="320040"/>
          </a:xfrm>
          <a:prstGeom prst="rect">
            <a:avLst/>
          </a:prstGeom>
          <a:noFill/>
        </p:spPr>
        <p:txBody>
          <a:bodyPr wrap="square" rtlCol="0" anchor="ctr"/>
          <a:lstStyle/>
          <a:p>
            <a:pPr marL="0" indent="0" algn="ctr">
              <a:buNone/>
            </a:pPr>
            <a:r>
              <a:rPr lang="en-US" sz="900" dirty="0">
                <a:solidFill>
                  <a:srgbClr val="9BBCD0"/>
                </a:solidFill>
                <a:latin typeface="Calibri" pitchFamily="34" charset="0"/>
                <a:ea typeface="Calibri" pitchFamily="34" charset="-122"/>
                <a:cs typeface="Calibri" pitchFamily="34" charset="-120"/>
              </a:rPr>
              <a:t>Imbalance Ratio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1048602" name="Shape 0"/>
          <p:cNvSpPr/>
          <p:nvPr/>
        </p:nvSpPr>
        <p:spPr>
          <a:xfrm>
            <a:off x="0" y="0"/>
            <a:ext cx="9144000" cy="694944"/>
          </a:xfrm>
          <a:prstGeom prst="rect">
            <a:avLst/>
          </a:prstGeom>
          <a:solidFill>
            <a:srgbClr val="0D1B2A"/>
          </a:solidFill>
          <a:ln w="12700">
            <a:solidFill>
              <a:srgbClr val="0D1B2A"/>
            </a:solidFill>
            <a:prstDash val="solid"/>
          </a:ln>
        </p:spPr>
        <p:txBody>
          <a:bodyPr/>
          <a:lstStyle/>
          <a:p>
            <a:endParaRPr lang="en-IN"/>
          </a:p>
        </p:txBody>
      </p:sp>
      <p:sp>
        <p:nvSpPr>
          <p:cNvPr id="1048603" name="Text 1"/>
          <p:cNvSpPr/>
          <p:nvPr/>
        </p:nvSpPr>
        <p:spPr>
          <a:xfrm>
            <a:off x="365760" y="0"/>
            <a:ext cx="8412480" cy="694944"/>
          </a:xfrm>
          <a:prstGeom prst="rect">
            <a:avLst/>
          </a:prstGeom>
          <a:noFill/>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Objective</a:t>
            </a:r>
            <a:endParaRPr lang="en-US" sz="2200" dirty="0"/>
          </a:p>
        </p:txBody>
      </p:sp>
      <p:sp>
        <p:nvSpPr>
          <p:cNvPr id="1048604" name="Shape 2"/>
          <p:cNvSpPr/>
          <p:nvPr/>
        </p:nvSpPr>
        <p:spPr>
          <a:xfrm>
            <a:off x="256032" y="822960"/>
            <a:ext cx="4114800" cy="4041648"/>
          </a:xfrm>
          <a:prstGeom prst="rect">
            <a:avLst/>
          </a:prstGeom>
          <a:solidFill>
            <a:srgbClr val="FFFFFF"/>
          </a:solidFill>
          <a:ln w="12700">
            <a:solidFill>
              <a:srgbClr val="CBD5E1"/>
            </a:solidFill>
            <a:prstDash val="solid"/>
          </a:ln>
          <a:effectLst>
            <a:outerShdw blurRad="76200" dist="25400" dir="8100000" algn="bl" rotWithShape="0">
              <a:srgbClr val="000000">
                <a:alpha val="9000"/>
              </a:srgbClr>
            </a:outerShdw>
          </a:effectLst>
        </p:spPr>
        <p:txBody>
          <a:bodyPr/>
          <a:lstStyle/>
          <a:p>
            <a:endParaRPr lang="en-IN"/>
          </a:p>
        </p:txBody>
      </p:sp>
      <p:sp>
        <p:nvSpPr>
          <p:cNvPr id="1048605" name="Shape 3"/>
          <p:cNvSpPr/>
          <p:nvPr/>
        </p:nvSpPr>
        <p:spPr>
          <a:xfrm>
            <a:off x="256032" y="822960"/>
            <a:ext cx="4114800" cy="438912"/>
          </a:xfrm>
          <a:prstGeom prst="rect">
            <a:avLst/>
          </a:prstGeom>
          <a:solidFill>
            <a:srgbClr val="0D9488"/>
          </a:solidFill>
          <a:ln w="12700">
            <a:solidFill>
              <a:srgbClr val="0D9488"/>
            </a:solidFill>
            <a:prstDash val="solid"/>
          </a:ln>
        </p:spPr>
        <p:txBody>
          <a:bodyPr/>
          <a:lstStyle/>
          <a:p>
            <a:endParaRPr lang="en-IN"/>
          </a:p>
        </p:txBody>
      </p:sp>
      <p:sp>
        <p:nvSpPr>
          <p:cNvPr id="1048606" name="Text 4"/>
          <p:cNvSpPr/>
          <p:nvPr/>
        </p:nvSpPr>
        <p:spPr>
          <a:xfrm>
            <a:off x="310896" y="822960"/>
            <a:ext cx="4023360" cy="438912"/>
          </a:xfrm>
          <a:prstGeom prst="rect">
            <a:avLst/>
          </a:prstGeom>
          <a:noFill/>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Objectives</a:t>
            </a:r>
            <a:endParaRPr lang="en-US" sz="1300" dirty="0"/>
          </a:p>
        </p:txBody>
      </p:sp>
      <p:sp>
        <p:nvSpPr>
          <p:cNvPr id="1048607" name="Shape 5"/>
          <p:cNvSpPr/>
          <p:nvPr/>
        </p:nvSpPr>
        <p:spPr>
          <a:xfrm>
            <a:off x="329184" y="1353312"/>
            <a:ext cx="329184" cy="329184"/>
          </a:xfrm>
          <a:prstGeom prst="rect">
            <a:avLst/>
          </a:prstGeom>
          <a:solidFill>
            <a:srgbClr val="0D9488"/>
          </a:solidFill>
          <a:ln w="12700">
            <a:solidFill>
              <a:srgbClr val="0D9488"/>
            </a:solidFill>
            <a:prstDash val="solid"/>
          </a:ln>
        </p:spPr>
        <p:txBody>
          <a:bodyPr/>
          <a:lstStyle/>
          <a:p>
            <a:endParaRPr lang="en-IN"/>
          </a:p>
        </p:txBody>
      </p:sp>
      <p:sp>
        <p:nvSpPr>
          <p:cNvPr id="1048608" name="Text 6"/>
          <p:cNvSpPr/>
          <p:nvPr/>
        </p:nvSpPr>
        <p:spPr>
          <a:xfrm>
            <a:off x="329184" y="1353312"/>
            <a:ext cx="329184" cy="329184"/>
          </a:xfrm>
          <a:prstGeom prst="rect">
            <a:avLst/>
          </a:prstGeom>
          <a:noFill/>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048609" name="Text 7"/>
          <p:cNvSpPr/>
          <p:nvPr/>
        </p:nvSpPr>
        <p:spPr>
          <a:xfrm>
            <a:off x="749808" y="1353312"/>
            <a:ext cx="351129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Design &amp; Train a CNN</a:t>
            </a:r>
            <a:endParaRPr lang="en-US" sz="1100" dirty="0"/>
          </a:p>
        </p:txBody>
      </p:sp>
      <p:sp>
        <p:nvSpPr>
          <p:cNvPr id="1048610" name="Text 8"/>
          <p:cNvSpPr/>
          <p:nvPr/>
        </p:nvSpPr>
        <p:spPr>
          <a:xfrm>
            <a:off x="749808" y="1609344"/>
            <a:ext cx="3511296" cy="548640"/>
          </a:xfrm>
          <a:prstGeom prst="rect">
            <a:avLst/>
          </a:prstGeom>
          <a:noFill/>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Design, train, and evaluate a Convolutional Neural Network (CNN) for multi-class image classification on the CIFAR-10 benchmark dataset.</a:t>
            </a:r>
            <a:endParaRPr lang="en-US" sz="950" dirty="0"/>
          </a:p>
        </p:txBody>
      </p:sp>
      <p:sp>
        <p:nvSpPr>
          <p:cNvPr id="1048611" name="Shape 9"/>
          <p:cNvSpPr/>
          <p:nvPr/>
        </p:nvSpPr>
        <p:spPr>
          <a:xfrm>
            <a:off x="329184" y="2212848"/>
            <a:ext cx="329184" cy="329184"/>
          </a:xfrm>
          <a:prstGeom prst="rect">
            <a:avLst/>
          </a:prstGeom>
          <a:solidFill>
            <a:srgbClr val="0D9488"/>
          </a:solidFill>
          <a:ln w="12700">
            <a:solidFill>
              <a:srgbClr val="0D9488"/>
            </a:solidFill>
            <a:prstDash val="solid"/>
          </a:ln>
        </p:spPr>
        <p:txBody>
          <a:bodyPr/>
          <a:lstStyle/>
          <a:p>
            <a:endParaRPr lang="en-IN"/>
          </a:p>
        </p:txBody>
      </p:sp>
      <p:sp>
        <p:nvSpPr>
          <p:cNvPr id="1048612" name="Text 10"/>
          <p:cNvSpPr/>
          <p:nvPr/>
        </p:nvSpPr>
        <p:spPr>
          <a:xfrm>
            <a:off x="329184" y="2212848"/>
            <a:ext cx="329184" cy="329184"/>
          </a:xfrm>
          <a:prstGeom prst="rect">
            <a:avLst/>
          </a:prstGeom>
          <a:noFill/>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048613" name="Text 11"/>
          <p:cNvSpPr/>
          <p:nvPr/>
        </p:nvSpPr>
        <p:spPr>
          <a:xfrm>
            <a:off x="749808" y="2212848"/>
            <a:ext cx="351129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Fixed-Floor Sampling</a:t>
            </a:r>
            <a:endParaRPr lang="en-US" sz="1100" dirty="0"/>
          </a:p>
        </p:txBody>
      </p:sp>
      <p:sp>
        <p:nvSpPr>
          <p:cNvPr id="1048614" name="Text 12"/>
          <p:cNvSpPr/>
          <p:nvPr/>
        </p:nvSpPr>
        <p:spPr>
          <a:xfrm>
            <a:off x="749808" y="2468880"/>
            <a:ext cx="3511296" cy="548640"/>
          </a:xfrm>
          <a:prstGeom prst="rect">
            <a:avLst/>
          </a:prstGeom>
          <a:noFill/>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Implement controlled inverse-accuracy sampling: 2,000 floor – 5,000 ceiling, ensuring stable gradient updates across all 10 target classes.</a:t>
            </a:r>
            <a:endParaRPr lang="en-US" sz="950" dirty="0"/>
          </a:p>
        </p:txBody>
      </p:sp>
      <p:sp>
        <p:nvSpPr>
          <p:cNvPr id="1048615" name="Shape 13"/>
          <p:cNvSpPr/>
          <p:nvPr/>
        </p:nvSpPr>
        <p:spPr>
          <a:xfrm>
            <a:off x="329184" y="3072384"/>
            <a:ext cx="329184" cy="329184"/>
          </a:xfrm>
          <a:prstGeom prst="rect">
            <a:avLst/>
          </a:prstGeom>
          <a:solidFill>
            <a:srgbClr val="0D9488"/>
          </a:solidFill>
          <a:ln w="12700">
            <a:solidFill>
              <a:srgbClr val="0D9488"/>
            </a:solidFill>
            <a:prstDash val="solid"/>
          </a:ln>
        </p:spPr>
        <p:txBody>
          <a:bodyPr/>
          <a:lstStyle/>
          <a:p>
            <a:endParaRPr lang="en-IN"/>
          </a:p>
        </p:txBody>
      </p:sp>
      <p:sp>
        <p:nvSpPr>
          <p:cNvPr id="1048616" name="Text 14"/>
          <p:cNvSpPr/>
          <p:nvPr/>
        </p:nvSpPr>
        <p:spPr>
          <a:xfrm>
            <a:off x="329184" y="3072384"/>
            <a:ext cx="329184" cy="329184"/>
          </a:xfrm>
          <a:prstGeom prst="rect">
            <a:avLst/>
          </a:prstGeom>
          <a:noFill/>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048617" name="Text 15"/>
          <p:cNvSpPr/>
          <p:nvPr/>
        </p:nvSpPr>
        <p:spPr>
          <a:xfrm>
            <a:off x="749808" y="3072384"/>
            <a:ext cx="351129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Comparative Evaluation</a:t>
            </a:r>
            <a:endParaRPr lang="en-US" sz="1100" dirty="0"/>
          </a:p>
        </p:txBody>
      </p:sp>
      <p:sp>
        <p:nvSpPr>
          <p:cNvPr id="1048618" name="Text 16"/>
          <p:cNvSpPr/>
          <p:nvPr/>
        </p:nvSpPr>
        <p:spPr>
          <a:xfrm>
            <a:off x="749808" y="3328416"/>
            <a:ext cx="3511296" cy="548640"/>
          </a:xfrm>
          <a:prstGeom prst="rect">
            <a:avLst/>
          </a:prstGeom>
          <a:noFill/>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Quantitatively compare CNN against a fully-connected baseline, demonstrating the advantage of spatial feature learning (76.29% vs 28.00%).</a:t>
            </a:r>
            <a:endParaRPr lang="en-US" sz="950" dirty="0"/>
          </a:p>
        </p:txBody>
      </p:sp>
      <p:sp>
        <p:nvSpPr>
          <p:cNvPr id="1048619" name="Shape 17"/>
          <p:cNvSpPr/>
          <p:nvPr/>
        </p:nvSpPr>
        <p:spPr>
          <a:xfrm>
            <a:off x="329184" y="3931920"/>
            <a:ext cx="329184" cy="329184"/>
          </a:xfrm>
          <a:prstGeom prst="rect">
            <a:avLst/>
          </a:prstGeom>
          <a:solidFill>
            <a:srgbClr val="0D9488"/>
          </a:solidFill>
          <a:ln w="12700">
            <a:solidFill>
              <a:srgbClr val="0D9488"/>
            </a:solidFill>
            <a:prstDash val="solid"/>
          </a:ln>
        </p:spPr>
        <p:txBody>
          <a:bodyPr/>
          <a:lstStyle/>
          <a:p>
            <a:endParaRPr lang="en-IN"/>
          </a:p>
        </p:txBody>
      </p:sp>
      <p:sp>
        <p:nvSpPr>
          <p:cNvPr id="1048620" name="Text 18"/>
          <p:cNvSpPr/>
          <p:nvPr/>
        </p:nvSpPr>
        <p:spPr>
          <a:xfrm>
            <a:off x="329184" y="3931920"/>
            <a:ext cx="329184" cy="329184"/>
          </a:xfrm>
          <a:prstGeom prst="rect">
            <a:avLst/>
          </a:prstGeom>
          <a:noFill/>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048621" name="Text 19"/>
          <p:cNvSpPr/>
          <p:nvPr/>
        </p:nvSpPr>
        <p:spPr>
          <a:xfrm>
            <a:off x="749808" y="3931920"/>
            <a:ext cx="351129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Full TensorFlow Workflow</a:t>
            </a:r>
            <a:endParaRPr lang="en-US" sz="1100" dirty="0"/>
          </a:p>
        </p:txBody>
      </p:sp>
      <p:sp>
        <p:nvSpPr>
          <p:cNvPr id="1048622" name="Text 20"/>
          <p:cNvSpPr/>
          <p:nvPr/>
        </p:nvSpPr>
        <p:spPr>
          <a:xfrm>
            <a:off x="749808" y="4187952"/>
            <a:ext cx="3511296" cy="548640"/>
          </a:xfrm>
          <a:prstGeom prst="rect">
            <a:avLst/>
          </a:prstGeom>
          <a:noFill/>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Demonstrate a complete deep learning pipeline: EDA → imbalance design → preprocessing → augmentation → callbacks → evaluation — meeting assignment LOs.</a:t>
            </a:r>
            <a:endParaRPr lang="en-US" sz="950" dirty="0"/>
          </a:p>
        </p:txBody>
      </p:sp>
      <p:sp>
        <p:nvSpPr>
          <p:cNvPr id="1048623" name="Shape 21"/>
          <p:cNvSpPr/>
          <p:nvPr/>
        </p:nvSpPr>
        <p:spPr>
          <a:xfrm>
            <a:off x="4572000" y="822960"/>
            <a:ext cx="4315968" cy="4041648"/>
          </a:xfrm>
          <a:prstGeom prst="rect">
            <a:avLst/>
          </a:prstGeom>
          <a:solidFill>
            <a:srgbClr val="FFFFFF"/>
          </a:solidFill>
          <a:ln w="12700">
            <a:solidFill>
              <a:srgbClr val="CBD5E1"/>
            </a:solidFill>
            <a:prstDash val="solid"/>
          </a:ln>
          <a:effectLst>
            <a:outerShdw blurRad="76200" dist="25400" dir="8100000" algn="bl" rotWithShape="0">
              <a:srgbClr val="000000">
                <a:alpha val="9000"/>
              </a:srgbClr>
            </a:outerShdw>
          </a:effectLst>
        </p:spPr>
        <p:txBody>
          <a:bodyPr/>
          <a:lstStyle/>
          <a:p>
            <a:endParaRPr lang="en-IN"/>
          </a:p>
        </p:txBody>
      </p:sp>
      <p:sp>
        <p:nvSpPr>
          <p:cNvPr id="1048624" name="Shape 22"/>
          <p:cNvSpPr/>
          <p:nvPr/>
        </p:nvSpPr>
        <p:spPr>
          <a:xfrm>
            <a:off x="4572000" y="822960"/>
            <a:ext cx="4315968" cy="438912"/>
          </a:xfrm>
          <a:prstGeom prst="rect">
            <a:avLst/>
          </a:prstGeom>
          <a:solidFill>
            <a:srgbClr val="0D1B2A"/>
          </a:solidFill>
          <a:ln w="12700">
            <a:solidFill>
              <a:srgbClr val="0D1B2A"/>
            </a:solidFill>
            <a:prstDash val="solid"/>
          </a:ln>
        </p:spPr>
        <p:txBody>
          <a:bodyPr/>
          <a:lstStyle/>
          <a:p>
            <a:endParaRPr lang="en-IN"/>
          </a:p>
        </p:txBody>
      </p:sp>
      <p:sp>
        <p:nvSpPr>
          <p:cNvPr id="1048625" name="Text 23"/>
          <p:cNvSpPr/>
          <p:nvPr/>
        </p:nvSpPr>
        <p:spPr>
          <a:xfrm>
            <a:off x="4626864" y="822960"/>
            <a:ext cx="4206240" cy="438912"/>
          </a:xfrm>
          <a:prstGeom prst="rect">
            <a:avLst/>
          </a:prstGeom>
          <a:noFill/>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Project Pipeline</a:t>
            </a:r>
            <a:endParaRPr lang="en-US" sz="1300" dirty="0"/>
          </a:p>
        </p:txBody>
      </p:sp>
      <p:sp>
        <p:nvSpPr>
          <p:cNvPr id="1048626" name="Shape 24"/>
          <p:cNvSpPr/>
          <p:nvPr/>
        </p:nvSpPr>
        <p:spPr>
          <a:xfrm>
            <a:off x="4663440" y="1371600"/>
            <a:ext cx="4133088" cy="658368"/>
          </a:xfrm>
          <a:prstGeom prst="rect">
            <a:avLst/>
          </a:prstGeom>
          <a:solidFill>
            <a:srgbClr val="F1F5F9"/>
          </a:solidFill>
          <a:ln w="12700">
            <a:solidFill>
              <a:srgbClr val="0D9488"/>
            </a:solidFill>
            <a:prstDash val="solid"/>
          </a:ln>
        </p:spPr>
        <p:txBody>
          <a:bodyPr/>
          <a:lstStyle/>
          <a:p>
            <a:endParaRPr lang="en-IN"/>
          </a:p>
        </p:txBody>
      </p:sp>
      <p:sp>
        <p:nvSpPr>
          <p:cNvPr id="1048627" name="Shape 25"/>
          <p:cNvSpPr/>
          <p:nvPr/>
        </p:nvSpPr>
        <p:spPr>
          <a:xfrm>
            <a:off x="4736592" y="1481328"/>
            <a:ext cx="438912" cy="438912"/>
          </a:xfrm>
          <a:prstGeom prst="ellipse">
            <a:avLst/>
          </a:prstGeom>
          <a:solidFill>
            <a:srgbClr val="0D9488"/>
          </a:solidFill>
          <a:ln w="12700">
            <a:solidFill>
              <a:srgbClr val="0D9488"/>
            </a:solidFill>
            <a:prstDash val="solid"/>
          </a:ln>
        </p:spPr>
        <p:txBody>
          <a:bodyPr/>
          <a:lstStyle/>
          <a:p>
            <a:endParaRPr lang="en-IN"/>
          </a:p>
        </p:txBody>
      </p:sp>
      <p:sp>
        <p:nvSpPr>
          <p:cNvPr id="1048628" name="Text 26"/>
          <p:cNvSpPr/>
          <p:nvPr/>
        </p:nvSpPr>
        <p:spPr>
          <a:xfrm>
            <a:off x="4736592" y="1481328"/>
            <a:ext cx="438912" cy="438912"/>
          </a:xfrm>
          <a:prstGeom prst="rect">
            <a:avLst/>
          </a:prstGeom>
          <a:noFill/>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48629" name="Text 27"/>
          <p:cNvSpPr/>
          <p:nvPr/>
        </p:nvSpPr>
        <p:spPr>
          <a:xfrm>
            <a:off x="5266944" y="1426464"/>
            <a:ext cx="341985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Ingestion</a:t>
            </a:r>
            <a:endParaRPr lang="en-US" sz="1100" dirty="0"/>
          </a:p>
        </p:txBody>
      </p:sp>
      <p:sp>
        <p:nvSpPr>
          <p:cNvPr id="1048630" name="Text 28"/>
          <p:cNvSpPr/>
          <p:nvPr/>
        </p:nvSpPr>
        <p:spPr>
          <a:xfrm>
            <a:off x="5266944" y="1682496"/>
            <a:ext cx="3419856" cy="292608"/>
          </a:xfrm>
          <a:prstGeom prst="rect">
            <a:avLst/>
          </a:prstGeom>
          <a:noFill/>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keras.datasets.cifar10</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50,000 train · 10,000 test images</a:t>
            </a:r>
            <a:endParaRPr lang="en-US" sz="950" dirty="0"/>
          </a:p>
        </p:txBody>
      </p:sp>
      <p:sp>
        <p:nvSpPr>
          <p:cNvPr id="1048631" name="Shape 29"/>
          <p:cNvSpPr/>
          <p:nvPr/>
        </p:nvSpPr>
        <p:spPr>
          <a:xfrm>
            <a:off x="4956048" y="2048256"/>
            <a:ext cx="0" cy="128016"/>
          </a:xfrm>
          <a:prstGeom prst="line">
            <a:avLst/>
          </a:prstGeom>
          <a:noFill/>
          <a:ln w="25400">
            <a:solidFill>
              <a:srgbClr val="0D9488"/>
            </a:solidFill>
            <a:prstDash val="solid"/>
          </a:ln>
        </p:spPr>
        <p:txBody>
          <a:bodyPr/>
          <a:lstStyle/>
          <a:p>
            <a:endParaRPr lang="en-IN"/>
          </a:p>
        </p:txBody>
      </p:sp>
      <p:sp>
        <p:nvSpPr>
          <p:cNvPr id="1048632" name="Shape 30"/>
          <p:cNvSpPr/>
          <p:nvPr/>
        </p:nvSpPr>
        <p:spPr>
          <a:xfrm>
            <a:off x="4663440" y="2176272"/>
            <a:ext cx="4133088" cy="658368"/>
          </a:xfrm>
          <a:prstGeom prst="rect">
            <a:avLst/>
          </a:prstGeom>
          <a:solidFill>
            <a:srgbClr val="F1F5F9"/>
          </a:solidFill>
          <a:ln w="12700">
            <a:solidFill>
              <a:srgbClr val="F59E0B"/>
            </a:solidFill>
            <a:prstDash val="solid"/>
          </a:ln>
        </p:spPr>
        <p:txBody>
          <a:bodyPr/>
          <a:lstStyle/>
          <a:p>
            <a:endParaRPr lang="en-IN"/>
          </a:p>
        </p:txBody>
      </p:sp>
      <p:sp>
        <p:nvSpPr>
          <p:cNvPr id="1048633" name="Shape 31"/>
          <p:cNvSpPr/>
          <p:nvPr/>
        </p:nvSpPr>
        <p:spPr>
          <a:xfrm>
            <a:off x="4736592" y="2286000"/>
            <a:ext cx="438912" cy="438912"/>
          </a:xfrm>
          <a:prstGeom prst="ellipse">
            <a:avLst/>
          </a:prstGeom>
          <a:solidFill>
            <a:srgbClr val="F59E0B"/>
          </a:solidFill>
          <a:ln w="12700">
            <a:solidFill>
              <a:srgbClr val="F59E0B"/>
            </a:solidFill>
            <a:prstDash val="solid"/>
          </a:ln>
        </p:spPr>
        <p:txBody>
          <a:bodyPr/>
          <a:lstStyle/>
          <a:p>
            <a:endParaRPr lang="en-IN"/>
          </a:p>
        </p:txBody>
      </p:sp>
      <p:sp>
        <p:nvSpPr>
          <p:cNvPr id="1048634" name="Text 32"/>
          <p:cNvSpPr/>
          <p:nvPr/>
        </p:nvSpPr>
        <p:spPr>
          <a:xfrm>
            <a:off x="4736592" y="2286000"/>
            <a:ext cx="438912" cy="438912"/>
          </a:xfrm>
          <a:prstGeom prst="rect">
            <a:avLst/>
          </a:prstGeom>
          <a:noFill/>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48635" name="Text 33"/>
          <p:cNvSpPr/>
          <p:nvPr/>
        </p:nvSpPr>
        <p:spPr>
          <a:xfrm>
            <a:off x="5266944" y="2231136"/>
            <a:ext cx="341985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Fixed-Floor Processing</a:t>
            </a:r>
            <a:endParaRPr lang="en-US" sz="1100" dirty="0"/>
          </a:p>
        </p:txBody>
      </p:sp>
      <p:sp>
        <p:nvSpPr>
          <p:cNvPr id="1048636" name="Text 34"/>
          <p:cNvSpPr/>
          <p:nvPr/>
        </p:nvSpPr>
        <p:spPr>
          <a:xfrm>
            <a:off x="5266944" y="2487168"/>
            <a:ext cx="3419856" cy="292608"/>
          </a:xfrm>
          <a:prstGeom prst="rect">
            <a:avLst/>
          </a:prstGeom>
          <a:noFill/>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Inverse-accuracy sampling · 2k floor/5k ceiling</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30,300 images · ratio 2.5×</a:t>
            </a:r>
            <a:endParaRPr lang="en-US" sz="950" dirty="0"/>
          </a:p>
        </p:txBody>
      </p:sp>
      <p:sp>
        <p:nvSpPr>
          <p:cNvPr id="1048637" name="Shape 35"/>
          <p:cNvSpPr/>
          <p:nvPr/>
        </p:nvSpPr>
        <p:spPr>
          <a:xfrm>
            <a:off x="4956048" y="2852928"/>
            <a:ext cx="0" cy="128016"/>
          </a:xfrm>
          <a:prstGeom prst="line">
            <a:avLst/>
          </a:prstGeom>
          <a:noFill/>
          <a:ln w="25400">
            <a:solidFill>
              <a:srgbClr val="F59E0B"/>
            </a:solidFill>
            <a:prstDash val="solid"/>
          </a:ln>
        </p:spPr>
        <p:txBody>
          <a:bodyPr/>
          <a:lstStyle/>
          <a:p>
            <a:endParaRPr lang="en-IN"/>
          </a:p>
        </p:txBody>
      </p:sp>
      <p:sp>
        <p:nvSpPr>
          <p:cNvPr id="1048638" name="Shape 36"/>
          <p:cNvSpPr/>
          <p:nvPr/>
        </p:nvSpPr>
        <p:spPr>
          <a:xfrm>
            <a:off x="4663440" y="2980944"/>
            <a:ext cx="4133088" cy="658368"/>
          </a:xfrm>
          <a:prstGeom prst="rect">
            <a:avLst/>
          </a:prstGeom>
          <a:solidFill>
            <a:srgbClr val="F1F5F9"/>
          </a:solidFill>
          <a:ln w="12700">
            <a:solidFill>
              <a:srgbClr val="16A34A"/>
            </a:solidFill>
            <a:prstDash val="solid"/>
          </a:ln>
        </p:spPr>
        <p:txBody>
          <a:bodyPr/>
          <a:lstStyle/>
          <a:p>
            <a:endParaRPr lang="en-IN"/>
          </a:p>
        </p:txBody>
      </p:sp>
      <p:sp>
        <p:nvSpPr>
          <p:cNvPr id="1048639" name="Shape 37"/>
          <p:cNvSpPr/>
          <p:nvPr/>
        </p:nvSpPr>
        <p:spPr>
          <a:xfrm>
            <a:off x="4736592" y="3090672"/>
            <a:ext cx="438912" cy="438912"/>
          </a:xfrm>
          <a:prstGeom prst="ellipse">
            <a:avLst/>
          </a:prstGeom>
          <a:solidFill>
            <a:srgbClr val="16A34A"/>
          </a:solidFill>
          <a:ln w="12700">
            <a:solidFill>
              <a:srgbClr val="16A34A"/>
            </a:solidFill>
            <a:prstDash val="solid"/>
          </a:ln>
        </p:spPr>
        <p:txBody>
          <a:bodyPr/>
          <a:lstStyle/>
          <a:p>
            <a:endParaRPr lang="en-IN"/>
          </a:p>
        </p:txBody>
      </p:sp>
      <p:sp>
        <p:nvSpPr>
          <p:cNvPr id="1048640" name="Text 38"/>
          <p:cNvSpPr/>
          <p:nvPr/>
        </p:nvSpPr>
        <p:spPr>
          <a:xfrm>
            <a:off x="4736592" y="3090672"/>
            <a:ext cx="438912" cy="438912"/>
          </a:xfrm>
          <a:prstGeom prst="rect">
            <a:avLst/>
          </a:prstGeom>
          <a:noFill/>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48641" name="Text 39"/>
          <p:cNvSpPr/>
          <p:nvPr/>
        </p:nvSpPr>
        <p:spPr>
          <a:xfrm>
            <a:off x="5266944" y="3035808"/>
            <a:ext cx="341985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CNN Training</a:t>
            </a:r>
            <a:endParaRPr lang="en-US" sz="1100" dirty="0"/>
          </a:p>
        </p:txBody>
      </p:sp>
      <p:sp>
        <p:nvSpPr>
          <p:cNvPr id="1048642" name="Text 40"/>
          <p:cNvSpPr/>
          <p:nvPr/>
        </p:nvSpPr>
        <p:spPr>
          <a:xfrm>
            <a:off x="5266944" y="3291840"/>
            <a:ext cx="3419856" cy="292608"/>
          </a:xfrm>
          <a:prstGeom prst="rect">
            <a:avLst/>
          </a:prstGeom>
          <a:noFill/>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3-block CNN · BatchNorm · Dropout</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class_weight · Adam · EarlyStopping</a:t>
            </a:r>
            <a:endParaRPr lang="en-US" sz="950" dirty="0"/>
          </a:p>
        </p:txBody>
      </p:sp>
      <p:sp>
        <p:nvSpPr>
          <p:cNvPr id="1048643" name="Shape 41"/>
          <p:cNvSpPr/>
          <p:nvPr/>
        </p:nvSpPr>
        <p:spPr>
          <a:xfrm>
            <a:off x="4956048" y="3657600"/>
            <a:ext cx="0" cy="128016"/>
          </a:xfrm>
          <a:prstGeom prst="line">
            <a:avLst/>
          </a:prstGeom>
          <a:noFill/>
          <a:ln w="25400">
            <a:solidFill>
              <a:srgbClr val="16A34A"/>
            </a:solidFill>
            <a:prstDash val="solid"/>
          </a:ln>
        </p:spPr>
        <p:txBody>
          <a:bodyPr/>
          <a:lstStyle/>
          <a:p>
            <a:endParaRPr lang="en-IN"/>
          </a:p>
        </p:txBody>
      </p:sp>
      <p:sp>
        <p:nvSpPr>
          <p:cNvPr id="1048644" name="Shape 42"/>
          <p:cNvSpPr/>
          <p:nvPr/>
        </p:nvSpPr>
        <p:spPr>
          <a:xfrm>
            <a:off x="4663440" y="3785616"/>
            <a:ext cx="4133088" cy="658368"/>
          </a:xfrm>
          <a:prstGeom prst="rect">
            <a:avLst/>
          </a:prstGeom>
          <a:solidFill>
            <a:srgbClr val="F1F5F9"/>
          </a:solidFill>
          <a:ln w="12700">
            <a:solidFill>
              <a:srgbClr val="7C3AED"/>
            </a:solidFill>
            <a:prstDash val="solid"/>
          </a:ln>
        </p:spPr>
        <p:txBody>
          <a:bodyPr/>
          <a:lstStyle/>
          <a:p>
            <a:endParaRPr lang="en-IN"/>
          </a:p>
        </p:txBody>
      </p:sp>
      <p:sp>
        <p:nvSpPr>
          <p:cNvPr id="1048645" name="Shape 43"/>
          <p:cNvSpPr/>
          <p:nvPr/>
        </p:nvSpPr>
        <p:spPr>
          <a:xfrm>
            <a:off x="4736592" y="3895344"/>
            <a:ext cx="438912" cy="438912"/>
          </a:xfrm>
          <a:prstGeom prst="ellipse">
            <a:avLst/>
          </a:prstGeom>
          <a:solidFill>
            <a:srgbClr val="7C3AED"/>
          </a:solidFill>
          <a:ln w="12700">
            <a:solidFill>
              <a:srgbClr val="7C3AED"/>
            </a:solidFill>
            <a:prstDash val="solid"/>
          </a:ln>
        </p:spPr>
        <p:txBody>
          <a:bodyPr/>
          <a:lstStyle/>
          <a:p>
            <a:endParaRPr lang="en-IN"/>
          </a:p>
        </p:txBody>
      </p:sp>
      <p:sp>
        <p:nvSpPr>
          <p:cNvPr id="1048646" name="Text 44"/>
          <p:cNvSpPr/>
          <p:nvPr/>
        </p:nvSpPr>
        <p:spPr>
          <a:xfrm>
            <a:off x="4736592" y="3895344"/>
            <a:ext cx="438912" cy="438912"/>
          </a:xfrm>
          <a:prstGeom prst="rect">
            <a:avLst/>
          </a:prstGeom>
          <a:noFill/>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048647" name="Text 45"/>
          <p:cNvSpPr/>
          <p:nvPr/>
        </p:nvSpPr>
        <p:spPr>
          <a:xfrm>
            <a:off x="5266944" y="3840480"/>
            <a:ext cx="3419856" cy="237744"/>
          </a:xfrm>
          <a:prstGeom prst="rect">
            <a:avLst/>
          </a:prstGeom>
          <a:noFill/>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Evaluation</a:t>
            </a:r>
            <a:endParaRPr lang="en-US" sz="1100" dirty="0"/>
          </a:p>
        </p:txBody>
      </p:sp>
      <p:sp>
        <p:nvSpPr>
          <p:cNvPr id="1048648" name="Text 46"/>
          <p:cNvSpPr/>
          <p:nvPr/>
        </p:nvSpPr>
        <p:spPr>
          <a:xfrm>
            <a:off x="5266944" y="4096512"/>
            <a:ext cx="3419856" cy="292608"/>
          </a:xfrm>
          <a:prstGeom prst="rect">
            <a:avLst/>
          </a:prstGeom>
          <a:noFill/>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Classification report · ROC/AUC</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Confusion matrix · 76.29% test accuracy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1048652" name="Shape 0"/>
          <p:cNvSpPr/>
          <p:nvPr/>
        </p:nvSpPr>
        <p:spPr>
          <a:xfrm>
            <a:off x="0" y="0"/>
            <a:ext cx="9144000" cy="694944"/>
          </a:xfrm>
          <a:prstGeom prst="rect">
            <a:avLst/>
          </a:prstGeom>
          <a:solidFill>
            <a:srgbClr val="0D1B2A"/>
          </a:solidFill>
          <a:ln w="12700">
            <a:solidFill>
              <a:srgbClr val="0D1B2A"/>
            </a:solidFill>
            <a:prstDash val="solid"/>
          </a:ln>
        </p:spPr>
        <p:txBody>
          <a:bodyPr/>
          <a:lstStyle/>
          <a:p>
            <a:endParaRPr lang="en-IN"/>
          </a:p>
        </p:txBody>
      </p:sp>
      <p:sp>
        <p:nvSpPr>
          <p:cNvPr id="1048653" name="Text 1"/>
          <p:cNvSpPr/>
          <p:nvPr/>
        </p:nvSpPr>
        <p:spPr>
          <a:xfrm>
            <a:off x="365760" y="0"/>
            <a:ext cx="8412480" cy="694944"/>
          </a:xfrm>
          <a:prstGeom prst="rect">
            <a:avLst/>
          </a:prstGeom>
          <a:noFill/>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CIFAR-10 Dataset </a:t>
            </a:r>
            <a:r>
              <a:rPr lang="en-US" altLang="en-GB" sz="2200" b="1" dirty="0">
                <a:solidFill>
                  <a:srgbClr val="FFFFFF"/>
                </a:solidFill>
                <a:latin typeface="Calibri" pitchFamily="34" charset="0"/>
                <a:ea typeface="Calibri" pitchFamily="34" charset="-122"/>
                <a:cs typeface="Calibri" pitchFamily="34" charset="-120"/>
              </a:rPr>
              <a:t>Overview</a:t>
            </a:r>
            <a:endParaRPr lang="en-US" sz="2200" dirty="0"/>
          </a:p>
        </p:txBody>
      </p:sp>
      <p:sp>
        <p:nvSpPr>
          <p:cNvPr id="1048654" name="Shape 2"/>
          <p:cNvSpPr/>
          <p:nvPr/>
        </p:nvSpPr>
        <p:spPr>
          <a:xfrm>
            <a:off x="256032" y="822960"/>
            <a:ext cx="4114800" cy="4041648"/>
          </a:xfrm>
          <a:prstGeom prst="rect">
            <a:avLst/>
          </a:prstGeom>
          <a:solidFill>
            <a:srgbClr val="FFFFFF"/>
          </a:solidFill>
          <a:ln w="12700">
            <a:solidFill>
              <a:srgbClr val="CBD5E1"/>
            </a:solidFill>
            <a:prstDash val="solid"/>
          </a:ln>
          <a:effectLst>
            <a:outerShdw blurRad="76200" dist="25400" dir="8100000" algn="bl" rotWithShape="0">
              <a:srgbClr val="000000">
                <a:alpha val="9000"/>
              </a:srgbClr>
            </a:outerShdw>
          </a:effectLst>
        </p:spPr>
        <p:txBody>
          <a:bodyPr/>
          <a:lstStyle/>
          <a:p>
            <a:pPr marL="457200" indent="-457200">
              <a:buFont typeface="Wingdings" charset="2"/>
              <a:buChar char="l"/>
            </a:pPr>
            <a:r>
              <a:rPr lang="en-US" altLang="en-GB" sz="1800" dirty="0"/>
              <a:t>The original CIFAR-10 </a:t>
            </a:r>
            <a:r>
              <a:rPr lang="en-US" altLang="en-GB" sz="1800" dirty="0" err="1"/>
              <a:t>datset</a:t>
            </a:r>
            <a:r>
              <a:rPr lang="en-US" altLang="en-GB" sz="1800" dirty="0"/>
              <a:t> contains 60,000 images with ten object classes.</a:t>
            </a:r>
            <a:endParaRPr lang="zh-CN" altLang="en-US" sz="2800" dirty="0"/>
          </a:p>
          <a:p>
            <a:pPr marL="457200" indent="-457200">
              <a:buFont typeface="Wingdings" charset="2"/>
              <a:buChar char="l"/>
            </a:pPr>
            <a:r>
              <a:rPr lang="en-US" altLang="en-GB" sz="1800" dirty="0"/>
              <a:t>The ten Classes are Airplane, Automobile, bird, cat, deer, dog, frog, horse, ship and truck.</a:t>
            </a:r>
            <a:endParaRPr lang="zh-CN" altLang="en-US" sz="2800" dirty="0"/>
          </a:p>
          <a:p>
            <a:pPr marL="457200" indent="-457200">
              <a:buFont typeface="Wingdings" charset="2"/>
              <a:buChar char="l"/>
            </a:pPr>
            <a:r>
              <a:rPr lang="en-US" altLang="en-GB" sz="1800" dirty="0"/>
              <a:t>Of the 60,000 images, 50,000 (5,000 for each class) is for training and 10,000 is for testing.</a:t>
            </a:r>
            <a:endParaRPr lang="zh-CN" altLang="en-US" sz="2800" dirty="0"/>
          </a:p>
          <a:p>
            <a:pPr marL="457200" indent="-457200">
              <a:buFont typeface="Wingdings" charset="2"/>
              <a:buChar char="l"/>
            </a:pPr>
            <a:r>
              <a:rPr lang="en-US" altLang="en-GB" sz="1800" dirty="0"/>
              <a:t>To identify the difference the images per class was deliberately changed as to each class is different training images.</a:t>
            </a:r>
            <a:endParaRPr lang="zh-CN" altLang="en-US" sz="2800" dirty="0"/>
          </a:p>
          <a:p>
            <a:pPr marL="457200" indent="-457200">
              <a:buFont typeface="Wingdings" charset="2"/>
              <a:buChar char="l"/>
            </a:pPr>
            <a:endParaRPr lang="zh-CN" altLang="en-US" sz="2800" dirty="0"/>
          </a:p>
          <a:p>
            <a:pPr marL="0" indent="0">
              <a:buNone/>
            </a:pPr>
            <a:endParaRPr lang="zh-CN" altLang="en-US" dirty="0"/>
          </a:p>
        </p:txBody>
      </p:sp>
      <p:graphicFrame>
        <p:nvGraphicFramePr>
          <p:cNvPr id="4194311" name="Chart 0"/>
          <p:cNvGraphicFramePr>
            <a:graphicFrameLocks/>
          </p:cNvGraphicFramePr>
          <p:nvPr/>
        </p:nvGraphicFramePr>
        <p:xfrm>
          <a:off x="4486365" y="822959"/>
          <a:ext cx="4357687" cy="39510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1048685" name="Shape 0"/>
          <p:cNvSpPr/>
          <p:nvPr/>
        </p:nvSpPr>
        <p:spPr>
          <a:xfrm>
            <a:off x="0" y="0"/>
            <a:ext cx="9144000" cy="694944"/>
          </a:xfrm>
          <a:prstGeom prst="rect">
            <a:avLst/>
          </a:prstGeom>
          <a:solidFill>
            <a:srgbClr val="0D1B2A"/>
          </a:solidFill>
          <a:ln w="12700">
            <a:solidFill>
              <a:srgbClr val="0D1B2A"/>
            </a:solidFill>
            <a:prstDash val="solid"/>
          </a:ln>
        </p:spPr>
        <p:txBody>
          <a:bodyPr/>
          <a:lstStyle/>
          <a:p>
            <a:endParaRPr lang="en-IN"/>
          </a:p>
        </p:txBody>
      </p:sp>
      <p:sp>
        <p:nvSpPr>
          <p:cNvPr id="1048686" name="Text 1"/>
          <p:cNvSpPr/>
          <p:nvPr/>
        </p:nvSpPr>
        <p:spPr>
          <a:xfrm>
            <a:off x="365760" y="0"/>
            <a:ext cx="8412480" cy="694944"/>
          </a:xfrm>
          <a:prstGeom prst="rect">
            <a:avLst/>
          </a:prstGeom>
          <a:noFill/>
        </p:spPr>
        <p:txBody>
          <a:bodyPr wrap="square" rtlCol="0" anchor="ctr"/>
          <a:lstStyle/>
          <a:p>
            <a:pPr marL="0" indent="0">
              <a:buNone/>
            </a:pPr>
            <a:r>
              <a:rPr lang="en-US" altLang="en-GB" sz="2200" dirty="0">
                <a:solidFill>
                  <a:srgbClr val="FFFFFF"/>
                </a:solidFill>
              </a:rPr>
              <a:t>Pixel Statistics and Normalization</a:t>
            </a:r>
            <a:endParaRPr lang="en-US" sz="2200" dirty="0"/>
          </a:p>
        </p:txBody>
      </p:sp>
      <p:sp>
        <p:nvSpPr>
          <p:cNvPr id="1048687" name="Shape 2"/>
          <p:cNvSpPr/>
          <p:nvPr/>
        </p:nvSpPr>
        <p:spPr>
          <a:xfrm>
            <a:off x="32206" y="750771"/>
            <a:ext cx="4539794" cy="4041648"/>
          </a:xfrm>
          <a:prstGeom prst="rect">
            <a:avLst/>
          </a:prstGeom>
          <a:solidFill>
            <a:srgbClr val="FFFFFF"/>
          </a:solidFill>
          <a:ln w="12700">
            <a:solidFill>
              <a:srgbClr val="CBD5E1"/>
            </a:solidFill>
            <a:prstDash val="solid"/>
          </a:ln>
          <a:effectLst>
            <a:outerShdw blurRad="76200" dist="25400" dir="8100000" algn="bl" rotWithShape="0">
              <a:srgbClr val="000000">
                <a:alpha val="9000"/>
              </a:srgbClr>
            </a:outerShdw>
          </a:effectLst>
        </p:spPr>
        <p:txBody>
          <a:bodyPr/>
          <a:lstStyle/>
          <a:p>
            <a:pPr marL="285750" indent="-285750">
              <a:buFont typeface="Wingdings" charset="2"/>
              <a:buChar char="l"/>
            </a:pPr>
            <a:r>
              <a:rPr lang="en-US" altLang="en-GB"/>
              <a:t>Raw statistics on R, G, B is X_train: mean = 125.64, 122.35, 112.24 and a standard deviation of 62.71, 61.75, 66.03 with pixel range.</a:t>
            </a:r>
            <a:endParaRPr lang="zh-CN" altLang="en-US"/>
          </a:p>
          <a:p>
            <a:pPr marL="285750" indent="-285750">
              <a:buFont typeface="Wingdings" charset="2"/>
              <a:buChar char="l"/>
            </a:pPr>
            <a:r>
              <a:rPr lang="en-US" altLang="en-GB"/>
              <a:t>Visualized using a histogram to verify there are  no imbalance in pixel distribution.</a:t>
            </a:r>
            <a:endParaRPr lang="zh-CN" altLang="en-US"/>
          </a:p>
          <a:p>
            <a:pPr marL="285750" indent="-285750">
              <a:buFont typeface="Wingdings" charset="2"/>
              <a:buChar char="l"/>
            </a:pPr>
            <a:r>
              <a:rPr lang="en-US" altLang="en-GB"/>
              <a:t>Normalization is used to rescale images to a standard that can be used to train the model i.e all images in a particular uniform size and quality so that difference in the sample for each class does not affect the model learning.</a:t>
            </a:r>
            <a:endParaRPr lang="zh-CN" altLang="en-US"/>
          </a:p>
        </p:txBody>
      </p:sp>
      <p:pic>
        <p:nvPicPr>
          <p:cNvPr id="2097153" name="Picture 2097152"/>
          <p:cNvPicPr>
            <a:picLocks/>
          </p:cNvPicPr>
          <p:nvPr/>
        </p:nvPicPr>
        <p:blipFill>
          <a:blip r:embed="rId3"/>
          <a:stretch>
            <a:fillRect/>
          </a:stretch>
        </p:blipFill>
        <p:spPr>
          <a:xfrm rot="29756">
            <a:off x="4572823" y="840908"/>
            <a:ext cx="4344002" cy="31038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1048705" name="Shape 0"/>
          <p:cNvSpPr/>
          <p:nvPr/>
        </p:nvSpPr>
        <p:spPr>
          <a:xfrm>
            <a:off x="0" y="0"/>
            <a:ext cx="9144000" cy="694944"/>
          </a:xfrm>
          <a:prstGeom prst="rect">
            <a:avLst/>
          </a:prstGeom>
          <a:solidFill>
            <a:srgbClr val="0D1B2A"/>
          </a:solidFill>
          <a:ln w="12700">
            <a:solidFill>
              <a:srgbClr val="0D1B2A"/>
            </a:solidFill>
            <a:prstDash val="solid"/>
          </a:ln>
        </p:spPr>
        <p:txBody>
          <a:bodyPr/>
          <a:lstStyle/>
          <a:p>
            <a:endParaRPr lang="en-IN"/>
          </a:p>
        </p:txBody>
      </p:sp>
      <p:sp>
        <p:nvSpPr>
          <p:cNvPr id="1048706" name="Text 1"/>
          <p:cNvSpPr/>
          <p:nvPr/>
        </p:nvSpPr>
        <p:spPr>
          <a:xfrm>
            <a:off x="365760" y="0"/>
            <a:ext cx="8412480" cy="694944"/>
          </a:xfrm>
          <a:prstGeom prst="rect">
            <a:avLst/>
          </a:prstGeom>
          <a:noFill/>
        </p:spPr>
        <p:txBody>
          <a:bodyPr wrap="square" rtlCol="0" anchor="ctr"/>
          <a:lstStyle/>
          <a:p>
            <a:pPr marL="0" indent="0">
              <a:buNone/>
            </a:pPr>
            <a:r>
              <a:rPr lang="en-US" altLang="en-GB" sz="2200" b="1" dirty="0">
                <a:solidFill>
                  <a:srgbClr val="FFFFFF"/>
                </a:solidFill>
                <a:latin typeface="Calibri" pitchFamily="34" charset="0"/>
                <a:ea typeface="Calibri" pitchFamily="34" charset="-122"/>
                <a:cs typeface="Calibri" pitchFamily="34" charset="-120"/>
              </a:rPr>
              <a:t>Train, Validation and Test Split</a:t>
            </a:r>
            <a:endParaRPr lang="en-US" sz="2200" dirty="0"/>
          </a:p>
        </p:txBody>
      </p:sp>
      <p:sp>
        <p:nvSpPr>
          <p:cNvPr id="1049115" name="TextBox 1049114"/>
          <p:cNvSpPr txBox="1"/>
          <p:nvPr/>
        </p:nvSpPr>
        <p:spPr>
          <a:xfrm>
            <a:off x="365760" y="920393"/>
            <a:ext cx="4000000" cy="3416320"/>
          </a:xfrm>
          <a:prstGeom prst="rect">
            <a:avLst/>
          </a:prstGeom>
        </p:spPr>
        <p:txBody>
          <a:bodyPr wrap="square" rtlCol="0">
            <a:spAutoFit/>
          </a:bodyPr>
          <a:lstStyle/>
          <a:p>
            <a:pPr marL="457200" indent="-457200">
              <a:buFont typeface="Wingdings" charset="2"/>
              <a:buChar char="l"/>
            </a:pPr>
            <a:r>
              <a:rPr lang="en-US" altLang="en-GB" sz="1800" dirty="0">
                <a:solidFill>
                  <a:srgbClr val="000000"/>
                </a:solidFill>
              </a:rPr>
              <a:t>90% of the dataset is used </a:t>
            </a:r>
            <a:r>
              <a:rPr lang="en-US" altLang="en-GB" sz="1800" dirty="0" err="1">
                <a:solidFill>
                  <a:srgbClr val="000000"/>
                </a:solidFill>
              </a:rPr>
              <a:t>forI</a:t>
            </a:r>
            <a:r>
              <a:rPr lang="en-US" altLang="en-GB" sz="1800" dirty="0">
                <a:solidFill>
                  <a:srgbClr val="000000"/>
                </a:solidFill>
              </a:rPr>
              <a:t> training and 10% is used for validation of the initial 30,300 train dataset </a:t>
            </a:r>
            <a:r>
              <a:rPr lang="en-US" altLang="en-GB" sz="1800" dirty="0" err="1">
                <a:solidFill>
                  <a:srgbClr val="000000"/>
                </a:solidFill>
              </a:rPr>
              <a:t>i.e</a:t>
            </a:r>
            <a:r>
              <a:rPr lang="en-US" altLang="en-GB" sz="1800" dirty="0">
                <a:solidFill>
                  <a:srgbClr val="000000"/>
                </a:solidFill>
              </a:rPr>
              <a:t> 27,270 images for training the models and 3030 for validation .</a:t>
            </a:r>
            <a:endParaRPr lang="en-GB" sz="2800" dirty="0">
              <a:solidFill>
                <a:srgbClr val="000000"/>
              </a:solidFill>
            </a:endParaRPr>
          </a:p>
          <a:p>
            <a:pPr marL="457200" indent="-457200">
              <a:buFont typeface="Wingdings" charset="2"/>
              <a:buChar char="l"/>
            </a:pPr>
            <a:r>
              <a:rPr lang="en-US" altLang="en-GB" sz="1800" dirty="0">
                <a:solidFill>
                  <a:srgbClr val="000000"/>
                </a:solidFill>
              </a:rPr>
              <a:t>The split is created in a way that this class does not affect the training models based on the classes</a:t>
            </a:r>
            <a:endParaRPr lang="en-GB" sz="2800" dirty="0">
              <a:solidFill>
                <a:srgbClr val="000000"/>
              </a:solidFill>
            </a:endParaRPr>
          </a:p>
          <a:p>
            <a:pPr marL="457200" indent="-457200">
              <a:buFont typeface="Wingdings" charset="2"/>
              <a:buChar char="l"/>
            </a:pPr>
            <a:r>
              <a:rPr lang="en-US" altLang="en-GB" sz="1800" dirty="0">
                <a:solidFill>
                  <a:srgbClr val="000000"/>
                </a:solidFill>
              </a:rPr>
              <a:t>The test samples are kept as is </a:t>
            </a:r>
            <a:r>
              <a:rPr lang="en-US" altLang="en-GB" sz="1800" dirty="0" err="1">
                <a:solidFill>
                  <a:srgbClr val="000000"/>
                </a:solidFill>
              </a:rPr>
              <a:t>i.e</a:t>
            </a:r>
            <a:r>
              <a:rPr lang="en-US" altLang="en-GB" sz="1800" dirty="0">
                <a:solidFill>
                  <a:srgbClr val="000000"/>
                </a:solidFill>
              </a:rPr>
              <a:t> 10000 samples.</a:t>
            </a:r>
            <a:endParaRPr lang="en-GB" sz="2800" dirty="0">
              <a:solidFill>
                <a:srgbClr val="000000"/>
              </a:solidFill>
            </a:endParaRPr>
          </a:p>
        </p:txBody>
      </p:sp>
      <p:pic>
        <p:nvPicPr>
          <p:cNvPr id="2097154" name="Picture 2097153"/>
          <p:cNvPicPr>
            <a:picLocks/>
          </p:cNvPicPr>
          <p:nvPr/>
        </p:nvPicPr>
        <p:blipFill>
          <a:blip r:embed="rId3"/>
          <a:stretch>
            <a:fillRect/>
          </a:stretch>
        </p:blipFill>
        <p:spPr>
          <a:xfrm>
            <a:off x="4799628" y="920392"/>
            <a:ext cx="3893177" cy="31700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1048739" name="Shape 0"/>
          <p:cNvSpPr/>
          <p:nvPr/>
        </p:nvSpPr>
        <p:spPr>
          <a:xfrm>
            <a:off x="0" y="0"/>
            <a:ext cx="9144000" cy="694944"/>
          </a:xfrm>
          <a:prstGeom prst="rect">
            <a:avLst/>
          </a:prstGeom>
          <a:solidFill>
            <a:srgbClr val="0D1B2A"/>
          </a:solidFill>
          <a:ln w="12700">
            <a:solidFill>
              <a:srgbClr val="0D1B2A"/>
            </a:solidFill>
            <a:prstDash val="solid"/>
          </a:ln>
        </p:spPr>
        <p:txBody>
          <a:bodyPr/>
          <a:lstStyle/>
          <a:p>
            <a:endParaRPr lang="en-IN"/>
          </a:p>
        </p:txBody>
      </p:sp>
      <p:sp>
        <p:nvSpPr>
          <p:cNvPr id="1048740" name="Text 1"/>
          <p:cNvSpPr/>
          <p:nvPr/>
        </p:nvSpPr>
        <p:spPr>
          <a:xfrm>
            <a:off x="365760" y="0"/>
            <a:ext cx="8412480" cy="694944"/>
          </a:xfrm>
          <a:prstGeom prst="rect">
            <a:avLst/>
          </a:prstGeom>
          <a:noFill/>
        </p:spPr>
        <p:txBody>
          <a:bodyPr wrap="square" rtlCol="0" anchor="ctr"/>
          <a:lstStyle/>
          <a:p>
            <a:pPr marL="0" indent="0">
              <a:buNone/>
            </a:pPr>
            <a:r>
              <a:rPr lang="en-US" altLang="en-GB" sz="2200" b="1" dirty="0">
                <a:solidFill>
                  <a:srgbClr val="FFFFFF"/>
                </a:solidFill>
                <a:latin typeface="Calibri" pitchFamily="34" charset="0"/>
                <a:ea typeface="Calibri" pitchFamily="34" charset="-122"/>
                <a:cs typeface="Calibri" pitchFamily="34" charset="-120"/>
              </a:rPr>
              <a:t>Data Augmentation:</a:t>
            </a:r>
            <a:endParaRPr lang="en-US" sz="2200" dirty="0"/>
          </a:p>
        </p:txBody>
      </p:sp>
      <p:sp>
        <p:nvSpPr>
          <p:cNvPr id="1048744" name="Text 5"/>
          <p:cNvSpPr/>
          <p:nvPr/>
        </p:nvSpPr>
        <p:spPr>
          <a:xfrm>
            <a:off x="347472" y="1353312"/>
            <a:ext cx="3657600" cy="3438144"/>
          </a:xfrm>
          <a:prstGeom prst="rect">
            <a:avLst/>
          </a:prstGeom>
          <a:noFill/>
        </p:spPr>
        <p:txBody>
          <a:bodyPr wrap="square" rtlCol="0" anchor="t"/>
          <a:lstStyle/>
          <a:p>
            <a:pPr marL="171450" indent="-171450">
              <a:buFont typeface="Wingdings" charset="2"/>
              <a:buChar char="l"/>
            </a:pPr>
            <a:r>
              <a:rPr lang="en-US" altLang="en-GB" sz="1100" dirty="0"/>
              <a:t>Data Augmentation is utilized to generalize the dataset better and reduce overfitting thereby increasing the quality of the model and generalise better.</a:t>
            </a:r>
            <a:endParaRPr lang="en-US" sz="1100" dirty="0"/>
          </a:p>
          <a:p>
            <a:pPr marL="171450" indent="-171450">
              <a:buFont typeface="Wingdings" charset="2"/>
              <a:buChar char="l"/>
            </a:pPr>
            <a:r>
              <a:rPr lang="en-US" altLang="en-GB" sz="1100" dirty="0"/>
              <a:t>Augmentation is done using keras sequential layer and the types of Augmentation implemented are random horiazontal flip,rotation, zoom and translation.</a:t>
            </a:r>
            <a:endParaRPr lang="en-US" sz="1100" dirty="0"/>
          </a:p>
          <a:p>
            <a:pPr marL="171450" indent="-171450">
              <a:buFont typeface="Wingdings" charset="2"/>
              <a:buChar char="l"/>
            </a:pPr>
            <a:r>
              <a:rPr lang="en-US" altLang="en-GB" sz="1100" dirty="0"/>
              <a:t>This layer is directly integrated to CNN model graph so the model learns during the training.</a:t>
            </a:r>
            <a:endParaRPr lang="en-US" sz="1100" dirty="0"/>
          </a:p>
          <a:p>
            <a:pPr marL="171450" indent="-171450">
              <a:buFont typeface="Wingdings" charset="2"/>
              <a:buChar char="l"/>
            </a:pPr>
            <a:r>
              <a:rPr lang="en-US" altLang="en-GB" sz="1100" dirty="0"/>
              <a:t>Multiple examples of the augmented variants of the same image is shown in the image.</a:t>
            </a:r>
            <a:endParaRPr lang="en-US" sz="1100" dirty="0"/>
          </a:p>
        </p:txBody>
      </p:sp>
      <p:pic>
        <p:nvPicPr>
          <p:cNvPr id="2097155" name="Picture 2097154"/>
          <p:cNvPicPr>
            <a:picLocks/>
          </p:cNvPicPr>
          <p:nvPr/>
        </p:nvPicPr>
        <p:blipFill>
          <a:blip r:embed="rId3"/>
          <a:stretch>
            <a:fillRect/>
          </a:stretch>
        </p:blipFill>
        <p:spPr>
          <a:xfrm>
            <a:off x="4101207" y="1353312"/>
            <a:ext cx="4898697" cy="22693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6" name="TextBox 1049115"/>
          <p:cNvSpPr txBox="1"/>
          <p:nvPr/>
        </p:nvSpPr>
        <p:spPr>
          <a:xfrm>
            <a:off x="96513" y="0"/>
            <a:ext cx="7228656" cy="510540"/>
          </a:xfrm>
          <a:prstGeom prst="rect">
            <a:avLst/>
          </a:prstGeom>
        </p:spPr>
        <p:txBody>
          <a:bodyPr wrap="square" rtlCol="0">
            <a:spAutoFit/>
          </a:bodyPr>
          <a:lstStyle/>
          <a:p>
            <a:r>
              <a:rPr lang="en-US" altLang="en-GB" sz="2800" b="1">
                <a:solidFill>
                  <a:srgbClr val="000000"/>
                </a:solidFill>
              </a:rPr>
              <a:t>Baseline and CNN Architecture</a:t>
            </a:r>
            <a:endParaRPr lang="en-GB" sz="2800" b="1">
              <a:solidFill>
                <a:srgbClr val="000000"/>
              </a:solidFill>
            </a:endParaRPr>
          </a:p>
        </p:txBody>
      </p:sp>
      <p:sp>
        <p:nvSpPr>
          <p:cNvPr id="1049117" name="TextBox 1049116"/>
          <p:cNvSpPr txBox="1"/>
          <p:nvPr/>
        </p:nvSpPr>
        <p:spPr>
          <a:xfrm>
            <a:off x="296594" y="510540"/>
            <a:ext cx="7800111" cy="2085340"/>
          </a:xfrm>
          <a:prstGeom prst="rect">
            <a:avLst/>
          </a:prstGeom>
        </p:spPr>
        <p:txBody>
          <a:bodyPr wrap="square" rtlCol="0">
            <a:spAutoFit/>
          </a:bodyPr>
          <a:lstStyle/>
          <a:p>
            <a:pPr marL="342900" indent="-342900">
              <a:buFont typeface="Wingdings" charset="2"/>
              <a:buChar char="l"/>
            </a:pPr>
            <a:r>
              <a:rPr lang="en-US" altLang="en-GB" sz="1600" b="0">
                <a:solidFill>
                  <a:srgbClr val="000000"/>
                </a:solidFill>
              </a:rPr>
              <a:t>Baseline dense model: Flatten → Dense 512 + Dropout 0.3 → Dense 256 + Dropout 0.3 → Dense 10 softmax, about 1.7M trainable parameters.</a:t>
            </a:r>
            <a:endParaRPr lang="en-GB" sz="1400" b="0">
              <a:solidFill>
                <a:srgbClr val="000000"/>
              </a:solidFill>
            </a:endParaRPr>
          </a:p>
          <a:p>
            <a:pPr marL="342900" indent="-342900">
              <a:buFont typeface="Wingdings" charset="2"/>
              <a:buChar char="l"/>
            </a:pPr>
            <a:r>
              <a:rPr lang="en-GB" sz="1600" b="0">
                <a:solidFill>
                  <a:srgbClr val="000000"/>
                </a:solidFill>
              </a:rPr>
              <a:t>CNN model: three Conv–BatchNorm–Conv–BatchNorm–MaxPooling–Dropout blocks (32, 64, 128 filters) followed by GlobalAveragePooling2D → Dense 256 + Dropout 0.5 → Dense 10 softmax</a:t>
            </a:r>
            <a:r>
              <a:rPr lang="en-US" altLang="en-GB" sz="1600" b="0">
                <a:solidFill>
                  <a:srgbClr val="000000"/>
                </a:solidFill>
              </a:rPr>
              <a:t>.</a:t>
            </a:r>
            <a:endParaRPr lang="en-GB" sz="1400" b="0">
              <a:solidFill>
                <a:srgbClr val="000000"/>
              </a:solidFill>
            </a:endParaRPr>
          </a:p>
          <a:p>
            <a:pPr marL="342900" indent="-342900">
              <a:buFont typeface="Wingdings" charset="2"/>
              <a:buChar char="l"/>
            </a:pPr>
            <a:r>
              <a:rPr lang="en-US" altLang="en-GB" sz="1600" b="0">
                <a:solidFill>
                  <a:srgbClr val="000000"/>
                </a:solidFill>
              </a:rPr>
              <a:t>Despite having only ~325K parameters, the CNN exploits spatial inductive bias and in‑graph augmentation, unlike the fully connected baseline</a:t>
            </a:r>
            <a:endParaRPr lang="en-GB" sz="1400" b="0">
              <a:solidFill>
                <a:srgbClr val="000000"/>
              </a:solidFill>
            </a:endParaRPr>
          </a:p>
          <a:p>
            <a:pPr marL="342900" indent="-342900">
              <a:buFont typeface="Wingdings" charset="2"/>
              <a:buChar char="l"/>
            </a:pPr>
            <a:endParaRPr lang="en-GB" sz="2000" b="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8" name="TextBox 1049117"/>
          <p:cNvSpPr txBox="1"/>
          <p:nvPr/>
        </p:nvSpPr>
        <p:spPr>
          <a:xfrm>
            <a:off x="0" y="0"/>
            <a:ext cx="5290545" cy="447040"/>
          </a:xfrm>
          <a:prstGeom prst="rect">
            <a:avLst/>
          </a:prstGeom>
        </p:spPr>
        <p:txBody>
          <a:bodyPr wrap="square" rtlCol="0">
            <a:spAutoFit/>
          </a:bodyPr>
          <a:lstStyle/>
          <a:p>
            <a:r>
              <a:rPr lang="en-US" altLang="en-GB" sz="2400" b="1">
                <a:solidFill>
                  <a:srgbClr val="000000"/>
                </a:solidFill>
              </a:rPr>
              <a:t>Training Configurations &amp; Callbacks</a:t>
            </a:r>
            <a:endParaRPr lang="en-GB" sz="2400" b="1">
              <a:solidFill>
                <a:srgbClr val="000000"/>
              </a:solidFill>
            </a:endParaRPr>
          </a:p>
        </p:txBody>
      </p:sp>
      <p:sp>
        <p:nvSpPr>
          <p:cNvPr id="1049119" name="TextBox 1049118"/>
          <p:cNvSpPr txBox="1"/>
          <p:nvPr/>
        </p:nvSpPr>
        <p:spPr>
          <a:xfrm>
            <a:off x="280525" y="568227"/>
            <a:ext cx="5404623" cy="3139440"/>
          </a:xfrm>
          <a:prstGeom prst="rect">
            <a:avLst/>
          </a:prstGeom>
        </p:spPr>
        <p:txBody>
          <a:bodyPr wrap="square" rtlCol="0">
            <a:spAutoFit/>
          </a:bodyPr>
          <a:lstStyle/>
          <a:p>
            <a:pPr marL="342900" indent="-342900">
              <a:buFont typeface="Wingdings" charset="2"/>
              <a:buChar char="l"/>
            </a:pPr>
            <a:r>
              <a:rPr lang="en-US" altLang="en-GB" sz="2000">
                <a:solidFill>
                  <a:srgbClr val="000000"/>
                </a:solidFill>
              </a:rPr>
              <a:t>Both models uses adam (learning rate 0.001), sparse categorical cross-entropy and track accuracy as the main metrics.</a:t>
            </a:r>
            <a:endParaRPr lang="en-GB" sz="2000">
              <a:solidFill>
                <a:srgbClr val="000000"/>
              </a:solidFill>
            </a:endParaRPr>
          </a:p>
          <a:p>
            <a:pPr marL="342900" indent="-342900">
              <a:buFont typeface="Wingdings" charset="2"/>
              <a:buChar char="l"/>
            </a:pPr>
            <a:r>
              <a:rPr lang="en-US" altLang="en-GB" sz="2000">
                <a:solidFill>
                  <a:srgbClr val="000000"/>
                </a:solidFill>
              </a:rPr>
              <a:t>EarlyStopping ,ModelCheckpoint, ReduceLROnPlateau and CSVLogger are configured for each model to ensure proper learning.</a:t>
            </a:r>
            <a:endParaRPr lang="en-GB" sz="2000">
              <a:solidFill>
                <a:srgbClr val="000000"/>
              </a:solidFill>
            </a:endParaRPr>
          </a:p>
          <a:p>
            <a:pPr marL="342900" indent="-342900">
              <a:buFont typeface="Wingdings" charset="2"/>
              <a:buChar char="l"/>
            </a:pPr>
            <a:r>
              <a:rPr lang="en-US" altLang="en-GB" sz="2000">
                <a:solidFill>
                  <a:srgbClr val="000000"/>
                </a:solidFill>
              </a:rPr>
              <a:t>CNN learning time is longer to allow deeper architecture more time to learn using Augmentation.</a:t>
            </a:r>
            <a:endParaRPr lang="en-GB" sz="20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0" name="TextBox 1049119"/>
          <p:cNvSpPr txBox="1"/>
          <p:nvPr/>
        </p:nvSpPr>
        <p:spPr>
          <a:xfrm>
            <a:off x="0" y="0"/>
            <a:ext cx="5095233" cy="447040"/>
          </a:xfrm>
          <a:prstGeom prst="rect">
            <a:avLst/>
          </a:prstGeom>
        </p:spPr>
        <p:txBody>
          <a:bodyPr wrap="square" rtlCol="0">
            <a:spAutoFit/>
          </a:bodyPr>
          <a:lstStyle/>
          <a:p>
            <a:r>
              <a:rPr lang="en-US" altLang="en-GB" sz="2400" b="1">
                <a:solidFill>
                  <a:srgbClr val="000000"/>
                </a:solidFill>
              </a:rPr>
              <a:t>Training Outcomes : Baseline</a:t>
            </a:r>
            <a:endParaRPr lang="en-GB" sz="2800" b="1">
              <a:solidFill>
                <a:srgbClr val="000000"/>
              </a:solidFill>
            </a:endParaRPr>
          </a:p>
        </p:txBody>
      </p:sp>
      <p:sp>
        <p:nvSpPr>
          <p:cNvPr id="1049121" name="TextBox 1049120"/>
          <p:cNvSpPr txBox="1"/>
          <p:nvPr/>
        </p:nvSpPr>
        <p:spPr>
          <a:xfrm>
            <a:off x="269574" y="663756"/>
            <a:ext cx="4000000" cy="4053840"/>
          </a:xfrm>
          <a:prstGeom prst="rect">
            <a:avLst/>
          </a:prstGeom>
        </p:spPr>
        <p:txBody>
          <a:bodyPr wrap="square" rtlCol="0">
            <a:spAutoFit/>
          </a:bodyPr>
          <a:lstStyle/>
          <a:p>
            <a:pPr marL="342900" indent="-342900">
              <a:buFont typeface="Wingdings" charset="2"/>
              <a:buChar char="l"/>
            </a:pPr>
            <a:r>
              <a:rPr lang="en-US" altLang="en-GB" sz="2000">
                <a:solidFill>
                  <a:srgbClr val="000000"/>
                </a:solidFill>
              </a:rPr>
              <a:t>Baseline trained for 26 epochs before EarlyStopping stopped the training as the best results are from epochs 21.</a:t>
            </a:r>
            <a:endParaRPr lang="en-GB" sz="2000">
              <a:solidFill>
                <a:srgbClr val="000000"/>
              </a:solidFill>
            </a:endParaRPr>
          </a:p>
          <a:p>
            <a:pPr marL="342900" indent="-342900">
              <a:buFont typeface="Wingdings" charset="2"/>
              <a:buChar char="l"/>
            </a:pPr>
            <a:r>
              <a:rPr lang="en-US" altLang="en-GB" sz="2000">
                <a:solidFill>
                  <a:srgbClr val="000000"/>
                </a:solidFill>
              </a:rPr>
              <a:t>Validation loss comes around 1.7692 with accuracy at 34.29% even while using imbalanced sampling and class weights.</a:t>
            </a:r>
            <a:endParaRPr lang="en-GB" sz="2000">
              <a:solidFill>
                <a:srgbClr val="000000"/>
              </a:solidFill>
            </a:endParaRPr>
          </a:p>
          <a:p>
            <a:pPr marL="342900" indent="-342900">
              <a:buFont typeface="Wingdings" charset="2"/>
              <a:buChar char="l"/>
            </a:pPr>
            <a:r>
              <a:rPr lang="en-US" altLang="en-GB" sz="2000">
                <a:solidFill>
                  <a:srgbClr val="000000"/>
                </a:solidFill>
              </a:rPr>
              <a:t>This shows that purely dense baseline architecture is unable to use the 32*32 image structure efficienty.</a:t>
            </a:r>
            <a:endParaRPr lang="en-GB" sz="2000">
              <a:solidFill>
                <a:srgbClr val="000000"/>
              </a:solidFill>
            </a:endParaRPr>
          </a:p>
        </p:txBody>
      </p:sp>
      <p:pic>
        <p:nvPicPr>
          <p:cNvPr id="2097157" name="Picture 2097156"/>
          <p:cNvPicPr>
            <a:picLocks/>
          </p:cNvPicPr>
          <p:nvPr/>
        </p:nvPicPr>
        <p:blipFill>
          <a:blip r:embed="rId2"/>
          <a:stretch>
            <a:fillRect/>
          </a:stretch>
        </p:blipFill>
        <p:spPr>
          <a:xfrm rot="18054">
            <a:off x="4274697" y="756121"/>
            <a:ext cx="4687663" cy="35096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2" name="TextBox 1049121"/>
          <p:cNvSpPr txBox="1"/>
          <p:nvPr/>
        </p:nvSpPr>
        <p:spPr>
          <a:xfrm>
            <a:off x="108173" y="111007"/>
            <a:ext cx="4000000" cy="447040"/>
          </a:xfrm>
          <a:prstGeom prst="rect">
            <a:avLst/>
          </a:prstGeom>
        </p:spPr>
        <p:txBody>
          <a:bodyPr wrap="square" rtlCol="0">
            <a:spAutoFit/>
          </a:bodyPr>
          <a:lstStyle/>
          <a:p>
            <a:r>
              <a:rPr lang="en-US" altLang="en-GB" sz="2400" b="1">
                <a:solidFill>
                  <a:srgbClr val="000000"/>
                </a:solidFill>
              </a:rPr>
              <a:t>Training Outcomes : CNN</a:t>
            </a:r>
            <a:endParaRPr lang="en-GB" sz="2400" b="1">
              <a:solidFill>
                <a:srgbClr val="000000"/>
              </a:solidFill>
            </a:endParaRPr>
          </a:p>
        </p:txBody>
      </p:sp>
      <p:sp>
        <p:nvSpPr>
          <p:cNvPr id="1049123" name="TextBox 1049122"/>
          <p:cNvSpPr txBox="1"/>
          <p:nvPr/>
        </p:nvSpPr>
        <p:spPr>
          <a:xfrm>
            <a:off x="179160" y="798771"/>
            <a:ext cx="4000000" cy="3825240"/>
          </a:xfrm>
          <a:prstGeom prst="rect">
            <a:avLst/>
          </a:prstGeom>
        </p:spPr>
        <p:txBody>
          <a:bodyPr wrap="square" rtlCol="0">
            <a:spAutoFit/>
          </a:bodyPr>
          <a:lstStyle/>
          <a:p>
            <a:pPr marL="457200" indent="-457200">
              <a:buFont typeface="Wingdings" charset="2"/>
              <a:buChar char="l"/>
            </a:pPr>
            <a:r>
              <a:rPr lang="en-US" altLang="en-GB" sz="1800">
                <a:solidFill>
                  <a:srgbClr val="000000"/>
                </a:solidFill>
              </a:rPr>
              <a:t>CNN trains around 79 epochs with ReduceLROnPlateau lowering learning rate as val_loss plateaus i.e loss stops getting lower.</a:t>
            </a:r>
            <a:endParaRPr lang="en-GB" sz="1600">
              <a:solidFill>
                <a:srgbClr val="000000"/>
              </a:solidFill>
            </a:endParaRPr>
          </a:p>
          <a:p>
            <a:pPr marL="457200" indent="-457200">
              <a:buFont typeface="Wingdings" charset="2"/>
              <a:buChar char="l"/>
            </a:pPr>
            <a:r>
              <a:rPr lang="en-US" altLang="en-GB" sz="1800">
                <a:solidFill>
                  <a:srgbClr val="000000"/>
                </a:solidFill>
              </a:rPr>
              <a:t>The best validation loss is =0.6353 at epoch 69 and validation accuracy of 0.7822 i.e, 78.22%. </a:t>
            </a:r>
            <a:endParaRPr lang="en-GB" sz="1600">
              <a:solidFill>
                <a:srgbClr val="000000"/>
              </a:solidFill>
            </a:endParaRPr>
          </a:p>
          <a:p>
            <a:pPr marL="457200" indent="-457200">
              <a:buFont typeface="Wingdings" charset="2"/>
              <a:buChar char="l"/>
            </a:pPr>
            <a:r>
              <a:rPr lang="en-US" altLang="en-GB" sz="1800">
                <a:solidFill>
                  <a:srgbClr val="000000"/>
                </a:solidFill>
              </a:rPr>
              <a:t>Reative to the dense baseline, the CNN achieves substantially higher accuracy and lower loss on the same imbalanced subset and weights.</a:t>
            </a:r>
            <a:endParaRPr lang="en-GB" sz="2800">
              <a:solidFill>
                <a:srgbClr val="000000"/>
              </a:solidFill>
            </a:endParaRPr>
          </a:p>
        </p:txBody>
      </p:sp>
      <p:pic>
        <p:nvPicPr>
          <p:cNvPr id="2097158" name="Picture 2097157"/>
          <p:cNvPicPr>
            <a:picLocks/>
          </p:cNvPicPr>
          <p:nvPr/>
        </p:nvPicPr>
        <p:blipFill>
          <a:blip r:embed="rId2"/>
          <a:stretch>
            <a:fillRect/>
          </a:stretch>
        </p:blipFill>
        <p:spPr>
          <a:xfrm>
            <a:off x="4179160" y="987523"/>
            <a:ext cx="4824832" cy="30315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4" name="TextBox 1049123"/>
          <p:cNvSpPr txBox="1"/>
          <p:nvPr/>
        </p:nvSpPr>
        <p:spPr>
          <a:xfrm>
            <a:off x="61549" y="230157"/>
            <a:ext cx="4000000" cy="510540"/>
          </a:xfrm>
          <a:prstGeom prst="rect">
            <a:avLst/>
          </a:prstGeom>
        </p:spPr>
        <p:txBody>
          <a:bodyPr wrap="square" rtlCol="0">
            <a:spAutoFit/>
          </a:bodyPr>
          <a:lstStyle/>
          <a:p>
            <a:r>
              <a:rPr lang="en-US" altLang="en-GB" sz="2800">
                <a:solidFill>
                  <a:srgbClr val="000000"/>
                </a:solidFill>
              </a:rPr>
              <a:t>Comparison of ROC</a:t>
            </a:r>
            <a:endParaRPr lang="en-GB" sz="2800">
              <a:solidFill>
                <a:srgbClr val="000000"/>
              </a:solidFill>
            </a:endParaRPr>
          </a:p>
        </p:txBody>
      </p:sp>
      <p:pic>
        <p:nvPicPr>
          <p:cNvPr id="2097159" name="Picture 2097158"/>
          <p:cNvPicPr>
            <a:picLocks/>
          </p:cNvPicPr>
          <p:nvPr/>
        </p:nvPicPr>
        <p:blipFill>
          <a:blip r:embed="rId2"/>
          <a:stretch>
            <a:fillRect/>
          </a:stretch>
        </p:blipFill>
        <p:spPr>
          <a:xfrm>
            <a:off x="61549" y="740696"/>
            <a:ext cx="3825990" cy="2645712"/>
          </a:xfrm>
          <a:prstGeom prst="rect">
            <a:avLst/>
          </a:prstGeom>
        </p:spPr>
      </p:pic>
      <p:pic>
        <p:nvPicPr>
          <p:cNvPr id="2097160" name="Picture 2097159"/>
          <p:cNvPicPr>
            <a:picLocks/>
          </p:cNvPicPr>
          <p:nvPr/>
        </p:nvPicPr>
        <p:blipFill>
          <a:blip r:embed="rId3"/>
          <a:stretch>
            <a:fillRect/>
          </a:stretch>
        </p:blipFill>
        <p:spPr>
          <a:xfrm>
            <a:off x="3971583" y="740694"/>
            <a:ext cx="3844966" cy="2620710"/>
          </a:xfrm>
          <a:prstGeom prst="rect">
            <a:avLst/>
          </a:prstGeom>
        </p:spPr>
      </p:pic>
      <p:sp>
        <p:nvSpPr>
          <p:cNvPr id="1049125" name="TextBox 1049124"/>
          <p:cNvSpPr txBox="1"/>
          <p:nvPr/>
        </p:nvSpPr>
        <p:spPr>
          <a:xfrm>
            <a:off x="874053" y="3520935"/>
            <a:ext cx="6683704" cy="1539241"/>
          </a:xfrm>
          <a:prstGeom prst="rect">
            <a:avLst/>
          </a:prstGeom>
        </p:spPr>
        <p:txBody>
          <a:bodyPr wrap="square" rtlCol="0">
            <a:spAutoFit/>
          </a:bodyPr>
          <a:lstStyle/>
          <a:p>
            <a:r>
              <a:rPr lang="en-US" altLang="en-GB" sz="1600">
                <a:solidFill>
                  <a:srgbClr val="000000"/>
                </a:solidFill>
              </a:rPr>
              <a:t>The ROC comparison between Baseline and CNN shows the disfference between a simple baseline dense model that struggles to identify differences between classes while he CNN model that demonstrates greater identification over classes proving its ability to learn and identify distinctict features on the classes even with not exact amount of data on each class.</a:t>
            </a:r>
            <a:endParaRPr lang="en-GB" sz="28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6" name="TextBox 1049125"/>
          <p:cNvSpPr txBox="1"/>
          <p:nvPr/>
        </p:nvSpPr>
        <p:spPr>
          <a:xfrm>
            <a:off x="0" y="103427"/>
            <a:ext cx="5618653" cy="447040"/>
          </a:xfrm>
          <a:prstGeom prst="rect">
            <a:avLst/>
          </a:prstGeom>
        </p:spPr>
        <p:txBody>
          <a:bodyPr wrap="square" rtlCol="0">
            <a:spAutoFit/>
          </a:bodyPr>
          <a:lstStyle/>
          <a:p>
            <a:r>
              <a:rPr lang="en-US" altLang="en-GB" sz="2400">
                <a:solidFill>
                  <a:srgbClr val="000000"/>
                </a:solidFill>
              </a:rPr>
              <a:t>Misclassified Samples Comparison </a:t>
            </a:r>
            <a:endParaRPr lang="en-GB" sz="2400">
              <a:solidFill>
                <a:srgbClr val="000000"/>
              </a:solidFill>
            </a:endParaRPr>
          </a:p>
        </p:txBody>
      </p:sp>
      <p:pic>
        <p:nvPicPr>
          <p:cNvPr id="2097161" name="Picture 2097160"/>
          <p:cNvPicPr>
            <a:picLocks/>
          </p:cNvPicPr>
          <p:nvPr/>
        </p:nvPicPr>
        <p:blipFill>
          <a:blip r:embed="rId2"/>
          <a:stretch>
            <a:fillRect/>
          </a:stretch>
        </p:blipFill>
        <p:spPr>
          <a:xfrm>
            <a:off x="105410" y="550466"/>
            <a:ext cx="4238352" cy="2669379"/>
          </a:xfrm>
          <a:prstGeom prst="rect">
            <a:avLst/>
          </a:prstGeom>
        </p:spPr>
      </p:pic>
      <p:pic>
        <p:nvPicPr>
          <p:cNvPr id="2097162" name="Picture 2097161"/>
          <p:cNvPicPr>
            <a:picLocks/>
          </p:cNvPicPr>
          <p:nvPr/>
        </p:nvPicPr>
        <p:blipFill>
          <a:blip r:embed="rId3"/>
          <a:stretch>
            <a:fillRect/>
          </a:stretch>
        </p:blipFill>
        <p:spPr>
          <a:xfrm>
            <a:off x="4571999" y="688690"/>
            <a:ext cx="4069089" cy="2562774"/>
          </a:xfrm>
          <a:prstGeom prst="rect">
            <a:avLst/>
          </a:prstGeom>
        </p:spPr>
      </p:pic>
      <p:sp>
        <p:nvSpPr>
          <p:cNvPr id="1049127" name="TextBox 1049126"/>
          <p:cNvSpPr txBox="1"/>
          <p:nvPr/>
        </p:nvSpPr>
        <p:spPr>
          <a:xfrm>
            <a:off x="105409" y="3352781"/>
            <a:ext cx="8777379" cy="1615439"/>
          </a:xfrm>
          <a:prstGeom prst="rect">
            <a:avLst/>
          </a:prstGeom>
        </p:spPr>
        <p:txBody>
          <a:bodyPr wrap="square" rtlCol="0">
            <a:spAutoFit/>
          </a:bodyPr>
          <a:lstStyle/>
          <a:p>
            <a:pPr marL="342900" indent="-342900">
              <a:buFont typeface="Wingdings" charset="2"/>
              <a:buChar char="l"/>
            </a:pPr>
            <a:r>
              <a:rPr lang="en-US" altLang="en-GB" sz="2000">
                <a:solidFill>
                  <a:srgbClr val="000000"/>
                </a:solidFill>
              </a:rPr>
              <a:t>Baseline model Misclassified: 7199 / 10,000(71.99%)</a:t>
            </a:r>
            <a:endParaRPr lang="en-GB" sz="2800">
              <a:solidFill>
                <a:srgbClr val="000000"/>
              </a:solidFill>
            </a:endParaRPr>
          </a:p>
          <a:p>
            <a:pPr marL="342900" indent="-342900">
              <a:buFont typeface="Wingdings" charset="2"/>
              <a:buChar char="l"/>
            </a:pPr>
            <a:r>
              <a:rPr lang="en-US" altLang="en-GB" sz="2000">
                <a:solidFill>
                  <a:srgbClr val="000000"/>
                </a:solidFill>
              </a:rPr>
              <a:t>CNN Model Misclassified: 2130/10,000(21.30%).</a:t>
            </a:r>
            <a:endParaRPr lang="en-GB" sz="2800">
              <a:solidFill>
                <a:srgbClr val="000000"/>
              </a:solidFill>
            </a:endParaRPr>
          </a:p>
          <a:p>
            <a:pPr marL="342900" indent="-342900">
              <a:buFont typeface="Wingdings" charset="2"/>
              <a:buChar char="l"/>
            </a:pPr>
            <a:r>
              <a:rPr lang="en-US" altLang="en-GB" sz="2000">
                <a:solidFill>
                  <a:srgbClr val="000000"/>
                </a:solidFill>
              </a:rPr>
              <a:t> This comparison shows how the CNN model is better than the baseline dense model and the accuracy of the CNN model even with imbalanced training imagedatasets.</a:t>
            </a:r>
            <a:endParaRPr lang="en-GB" sz="28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8" name="TextBox 1049127"/>
          <p:cNvSpPr txBox="1"/>
          <p:nvPr/>
        </p:nvSpPr>
        <p:spPr>
          <a:xfrm>
            <a:off x="152577" y="112104"/>
            <a:ext cx="4000000" cy="447040"/>
          </a:xfrm>
          <a:prstGeom prst="rect">
            <a:avLst/>
          </a:prstGeom>
        </p:spPr>
        <p:txBody>
          <a:bodyPr wrap="square" rtlCol="0">
            <a:spAutoFit/>
          </a:bodyPr>
          <a:lstStyle/>
          <a:p>
            <a:r>
              <a:rPr lang="en-US" altLang="en-GB" sz="2400" b="1">
                <a:solidFill>
                  <a:srgbClr val="000000"/>
                </a:solidFill>
              </a:rPr>
              <a:t>Conclusion:</a:t>
            </a:r>
            <a:endParaRPr lang="en-GB" sz="2400" b="1">
              <a:solidFill>
                <a:srgbClr val="000000"/>
              </a:solidFill>
            </a:endParaRPr>
          </a:p>
        </p:txBody>
      </p:sp>
      <p:sp>
        <p:nvSpPr>
          <p:cNvPr id="1049129" name="TextBox 1049128"/>
          <p:cNvSpPr txBox="1"/>
          <p:nvPr/>
        </p:nvSpPr>
        <p:spPr>
          <a:xfrm>
            <a:off x="152576" y="559143"/>
            <a:ext cx="7107690" cy="3444240"/>
          </a:xfrm>
          <a:prstGeom prst="rect">
            <a:avLst/>
          </a:prstGeom>
        </p:spPr>
        <p:txBody>
          <a:bodyPr wrap="square" rtlCol="0">
            <a:spAutoFit/>
          </a:bodyPr>
          <a:lstStyle/>
          <a:p>
            <a:pPr marL="457200" indent="-457200">
              <a:buFont typeface="Wingdings" charset="2"/>
              <a:buChar char="l"/>
            </a:pPr>
            <a:r>
              <a:rPr lang="en-US" altLang="en-GB" sz="2000">
                <a:solidFill>
                  <a:srgbClr val="000000"/>
                </a:solidFill>
              </a:rPr>
              <a:t>The comparison between Baseline Dense model and CNN model are as clear as day and night as CNN clearly outperforms Baseline model on all fronts and classes.</a:t>
            </a:r>
            <a:endParaRPr lang="en-GB" sz="2800">
              <a:solidFill>
                <a:srgbClr val="000000"/>
              </a:solidFill>
            </a:endParaRPr>
          </a:p>
          <a:p>
            <a:pPr marL="457200" indent="-457200">
              <a:buFont typeface="Wingdings" charset="2"/>
              <a:buChar char="l"/>
            </a:pPr>
            <a:r>
              <a:rPr lang="en-US" altLang="en-GB" sz="2000">
                <a:solidFill>
                  <a:srgbClr val="000000"/>
                </a:solidFill>
              </a:rPr>
              <a:t>Even with the same dataset, weights and limitations CNN outperforms baseline model with baseline model has a val_accuracy of 34.29% and CNN with val_accurcy of 78.22% which is a difference of 43.93%.</a:t>
            </a:r>
            <a:endParaRPr lang="en-GB" sz="2800">
              <a:solidFill>
                <a:srgbClr val="000000"/>
              </a:solidFill>
            </a:endParaRPr>
          </a:p>
          <a:p>
            <a:pPr marL="457200" indent="-457200">
              <a:buFont typeface="Wingdings" charset="2"/>
              <a:buChar char="l"/>
            </a:pPr>
            <a:r>
              <a:rPr lang="en-US" altLang="en-GB" sz="2000">
                <a:solidFill>
                  <a:srgbClr val="000000"/>
                </a:solidFill>
              </a:rPr>
              <a:t>A percentage of 34.29% is worse than guessing and a percentage of 78.22 is quite accurate than baseline model with more training datasets on each this CNN model can increase to above 83% quite easily.</a:t>
            </a:r>
            <a:endParaRPr lang="en-GB" sz="2800">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169</TotalTime>
  <Words>1096</Words>
  <Application>Microsoft Office PowerPoint</Application>
  <PresentationFormat>On-screen Show (16:9)</PresentationFormat>
  <Paragraphs>100</Paragraphs>
  <Slides>13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 Image Classification using Fixed-Floor Data Sampling</dc:title>
  <dc:creator>Revathi · Module 7FTC2007</dc:creator>
  <cp:lastModifiedBy>Ashwin Kumar Saravanamuthu</cp:lastModifiedBy>
  <cp:revision>4</cp:revision>
  <dcterms:created xsi:type="dcterms:W3CDTF">2026-03-22T02:07:30Z</dcterms:created>
  <dcterms:modified xsi:type="dcterms:W3CDTF">2026-03-23T10:08:55Z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368c7d7106f04eaab6ebb751d900f72a</vt:lpwstr>
  </property>
</Properties>
</file>